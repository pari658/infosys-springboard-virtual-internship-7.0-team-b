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C9578F-B92A-455C-A2AF-0D6A82CF5962}" v="4" dt="2026-10-27T14:59:44.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i Patel" userId="093216c9d6766d6a" providerId="LiveId" clId="{10F11276-00CA-40EE-8246-8FA1FCB52626}"/>
    <pc:docChg chg="custSel addSld delSld modSld">
      <pc:chgData name="Pari Patel" userId="093216c9d6766d6a" providerId="LiveId" clId="{10F11276-00CA-40EE-8246-8FA1FCB52626}" dt="2026-10-27T14:59:52.323" v="21" actId="14100"/>
      <pc:docMkLst>
        <pc:docMk/>
      </pc:docMkLst>
      <pc:sldChg chg="delSp mod">
        <pc:chgData name="Pari Patel" userId="093216c9d6766d6a" providerId="LiveId" clId="{10F11276-00CA-40EE-8246-8FA1FCB52626}" dt="2026-10-27T14:13:00.931" v="1" actId="478"/>
        <pc:sldMkLst>
          <pc:docMk/>
          <pc:sldMk cId="0" sldId="256"/>
        </pc:sldMkLst>
        <pc:spChg chg="del">
          <ac:chgData name="Pari Patel" userId="093216c9d6766d6a" providerId="LiveId" clId="{10F11276-00CA-40EE-8246-8FA1FCB52626}" dt="2026-10-27T14:12:59.299" v="0" actId="478"/>
          <ac:spMkLst>
            <pc:docMk/>
            <pc:sldMk cId="0" sldId="256"/>
            <ac:spMk id="5" creationId="{00000000-0000-0000-0000-000000000000}"/>
          </ac:spMkLst>
        </pc:spChg>
        <pc:picChg chg="del">
          <ac:chgData name="Pari Patel" userId="093216c9d6766d6a" providerId="LiveId" clId="{10F11276-00CA-40EE-8246-8FA1FCB52626}" dt="2026-10-27T14:13:00.931" v="1" actId="478"/>
          <ac:picMkLst>
            <pc:docMk/>
            <pc:sldMk cId="0" sldId="256"/>
            <ac:picMk id="6" creationId="{00000000-0000-0000-0000-000000000000}"/>
          </ac:picMkLst>
        </pc:picChg>
      </pc:sldChg>
      <pc:sldChg chg="modSp mod">
        <pc:chgData name="Pari Patel" userId="093216c9d6766d6a" providerId="LiveId" clId="{10F11276-00CA-40EE-8246-8FA1FCB52626}" dt="2026-10-27T14:13:21.876" v="2" actId="20577"/>
        <pc:sldMkLst>
          <pc:docMk/>
          <pc:sldMk cId="0" sldId="258"/>
        </pc:sldMkLst>
        <pc:spChg chg="mod">
          <ac:chgData name="Pari Patel" userId="093216c9d6766d6a" providerId="LiveId" clId="{10F11276-00CA-40EE-8246-8FA1FCB52626}" dt="2026-10-27T14:13:21.876" v="2" actId="20577"/>
          <ac:spMkLst>
            <pc:docMk/>
            <pc:sldMk cId="0" sldId="258"/>
            <ac:spMk id="4" creationId="{00000000-0000-0000-0000-000000000000}"/>
          </ac:spMkLst>
        </pc:spChg>
      </pc:sldChg>
      <pc:sldChg chg="modSp mod">
        <pc:chgData name="Pari Patel" userId="093216c9d6766d6a" providerId="LiveId" clId="{10F11276-00CA-40EE-8246-8FA1FCB52626}" dt="2026-10-27T14:13:56.793" v="5" actId="1036"/>
        <pc:sldMkLst>
          <pc:docMk/>
          <pc:sldMk cId="0" sldId="262"/>
        </pc:sldMkLst>
        <pc:spChg chg="mod">
          <ac:chgData name="Pari Patel" userId="093216c9d6766d6a" providerId="LiveId" clId="{10F11276-00CA-40EE-8246-8FA1FCB52626}" dt="2026-10-27T14:13:52.694" v="4" actId="20577"/>
          <ac:spMkLst>
            <pc:docMk/>
            <pc:sldMk cId="0" sldId="262"/>
            <ac:spMk id="27" creationId="{00000000-0000-0000-0000-000000000000}"/>
          </ac:spMkLst>
        </pc:spChg>
        <pc:spChg chg="mod">
          <ac:chgData name="Pari Patel" userId="093216c9d6766d6a" providerId="LiveId" clId="{10F11276-00CA-40EE-8246-8FA1FCB52626}" dt="2026-10-27T14:13:56.793" v="5" actId="1036"/>
          <ac:spMkLst>
            <pc:docMk/>
            <pc:sldMk cId="0" sldId="262"/>
            <ac:spMk id="32" creationId="{00000000-0000-0000-0000-000000000000}"/>
          </ac:spMkLst>
        </pc:spChg>
      </pc:sldChg>
      <pc:sldChg chg="modSp mod">
        <pc:chgData name="Pari Patel" userId="093216c9d6766d6a" providerId="LiveId" clId="{10F11276-00CA-40EE-8246-8FA1FCB52626}" dt="2026-10-27T14:59:52.323" v="21" actId="14100"/>
        <pc:sldMkLst>
          <pc:docMk/>
          <pc:sldMk cId="0" sldId="266"/>
        </pc:sldMkLst>
        <pc:spChg chg="mod">
          <ac:chgData name="Pari Patel" userId="093216c9d6766d6a" providerId="LiveId" clId="{10F11276-00CA-40EE-8246-8FA1FCB52626}" dt="2026-10-27T14:59:09.002" v="18" actId="20577"/>
          <ac:spMkLst>
            <pc:docMk/>
            <pc:sldMk cId="0" sldId="266"/>
            <ac:spMk id="2" creationId="{00000000-0000-0000-0000-000000000000}"/>
          </ac:spMkLst>
        </pc:spChg>
        <pc:spChg chg="mod">
          <ac:chgData name="Pari Patel" userId="093216c9d6766d6a" providerId="LiveId" clId="{10F11276-00CA-40EE-8246-8FA1FCB52626}" dt="2026-10-27T14:59:52.323" v="21" actId="14100"/>
          <ac:spMkLst>
            <pc:docMk/>
            <pc:sldMk cId="0" sldId="266"/>
            <ac:spMk id="3" creationId="{00000000-0000-0000-0000-000000000000}"/>
          </ac:spMkLst>
        </pc:spChg>
        <pc:spChg chg="mod">
          <ac:chgData name="Pari Patel" userId="093216c9d6766d6a" providerId="LiveId" clId="{10F11276-00CA-40EE-8246-8FA1FCB52626}" dt="2026-10-27T14:59:49.578" v="20" actId="14100"/>
          <ac:spMkLst>
            <pc:docMk/>
            <pc:sldMk cId="0" sldId="266"/>
            <ac:spMk id="4" creationId="{00000000-0000-0000-0000-000000000000}"/>
          </ac:spMkLst>
        </pc:spChg>
      </pc:sldChg>
      <pc:sldChg chg="add del">
        <pc:chgData name="Pari Patel" userId="093216c9d6766d6a" providerId="LiveId" clId="{10F11276-00CA-40EE-8246-8FA1FCB52626}" dt="2026-10-27T14:59:00.225" v="7"/>
        <pc:sldMkLst>
          <pc:docMk/>
          <pc:sldMk cId="3505553878" sldId="268"/>
        </pc:sldMkLst>
      </pc:sldChg>
      <pc:sldChg chg="add">
        <pc:chgData name="Pari Patel" userId="093216c9d6766d6a" providerId="LiveId" clId="{10F11276-00CA-40EE-8246-8FA1FCB52626}" dt="2026-10-27T14:59:02.275" v="8"/>
        <pc:sldMkLst>
          <pc:docMk/>
          <pc:sldMk cId="4191225091"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6098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DE211-1D74-5451-1BED-529F6B94E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F554B-63C3-5531-1488-CA504B0412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7D5CD2-8145-4735-9FFA-AEBE2CEB08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5229FD-DE41-6EEC-F36C-EBA6D2F6D4D7}"/>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26306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6400800" cy="256032"/>
          </a:xfrm>
          <a:prstGeom prst="rect">
            <a:avLst/>
          </a:prstGeom>
          <a:noFill/>
          <a:ln/>
        </p:spPr>
        <p:txBody>
          <a:bodyPr wrap="square" lIns="0" tIns="0" rIns="0" bIns="0" rtlCol="0" anchor="ctr"/>
          <a:lstStyle/>
          <a:p>
            <a:pPr marL="0" indent="0">
              <a:buNone/>
            </a:pPr>
            <a:r>
              <a:rPr lang="en-US" sz="1000" b="1" kern="0" spc="100" dirty="0">
                <a:solidFill>
                  <a:srgbClr val="5B6B80"/>
                </a:solidFill>
                <a:latin typeface="Calibri" pitchFamily="34" charset="0"/>
                <a:ea typeface="Calibri" pitchFamily="34" charset="-122"/>
                <a:cs typeface="Calibri" pitchFamily="34" charset="-120"/>
              </a:rPr>
              <a:t>INFOSYS SPRINGBOARD  VIRTUAL INTERNSHIP 7.0</a:t>
            </a:r>
            <a:endParaRPr lang="en-US" sz="1000" dirty="0"/>
          </a:p>
        </p:txBody>
      </p:sp>
      <p:pic>
        <p:nvPicPr>
          <p:cNvPr id="3" name="Image 0" descr="logo.jpeg"/>
          <p:cNvPicPr>
            <a:picLocks noChangeAspect="1"/>
          </p:cNvPicPr>
          <p:nvPr/>
        </p:nvPicPr>
        <p:blipFill>
          <a:blip r:embed="rId2"/>
          <a:stretch>
            <a:fillRect/>
          </a:stretch>
        </p:blipFill>
        <p:spPr>
          <a:xfrm>
            <a:off x="10241280" y="182880"/>
            <a:ext cx="1508760" cy="81107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097280"/>
            <a:ext cx="6766560" cy="2011680"/>
          </a:xfrm>
          <a:prstGeom prst="rect">
            <a:avLst/>
          </a:prstGeom>
          <a:noFill/>
          <a:ln/>
        </p:spPr>
        <p:txBody>
          <a:bodyPr wrap="square" lIns="0" tIns="0" rIns="0" bIns="0" rtlCol="0" anchor="t"/>
          <a:lstStyle/>
          <a:p>
            <a:pPr marL="0" indent="0">
              <a:buNone/>
            </a:pPr>
            <a:r>
              <a:rPr lang="en-US" sz="3800" b="1" dirty="0">
                <a:solidFill>
                  <a:srgbClr val="12315E"/>
                </a:solidFill>
                <a:latin typeface="Calibri" pitchFamily="34" charset="0"/>
                <a:ea typeface="Calibri" pitchFamily="34" charset="-122"/>
                <a:cs typeface="Calibri" pitchFamily="34" charset="-120"/>
              </a:rPr>
              <a:t>Cyber Threat Analytics</a:t>
            </a:r>
            <a:endParaRPr lang="en-US" sz="3800" dirty="0"/>
          </a:p>
          <a:p>
            <a:pPr marL="0" indent="0">
              <a:buNone/>
            </a:pPr>
            <a:r>
              <a:rPr lang="en-US" sz="3800" b="1" dirty="0">
                <a:solidFill>
                  <a:srgbClr val="12315E"/>
                </a:solidFill>
                <a:latin typeface="Calibri" pitchFamily="34" charset="0"/>
                <a:ea typeface="Calibri" pitchFamily="34" charset="-122"/>
                <a:cs typeface="Calibri" pitchFamily="34" charset="-120"/>
              </a:rPr>
              <a:t>Platform with Incident</a:t>
            </a:r>
            <a:endParaRPr lang="en-US" sz="3800" dirty="0"/>
          </a:p>
          <a:p>
            <a:pPr marL="0" indent="0">
              <a:buNone/>
            </a:pPr>
            <a:r>
              <a:rPr lang="en-US" sz="3800" b="1" dirty="0">
                <a:solidFill>
                  <a:srgbClr val="12315E"/>
                </a:solidFill>
                <a:latin typeface="Calibri" pitchFamily="34" charset="0"/>
                <a:ea typeface="Calibri" pitchFamily="34" charset="-122"/>
                <a:cs typeface="Calibri" pitchFamily="34" charset="-120"/>
              </a:rPr>
              <a:t>Visualization System</a:t>
            </a:r>
            <a:endParaRPr lang="en-US" sz="3800" dirty="0"/>
          </a:p>
        </p:txBody>
      </p:sp>
      <p:sp>
        <p:nvSpPr>
          <p:cNvPr id="3" name="Text 1"/>
          <p:cNvSpPr txBox="1"/>
          <p:nvPr/>
        </p:nvSpPr>
        <p:spPr>
          <a:xfrm>
            <a:off x="457200" y="3200400"/>
            <a:ext cx="3657600" cy="320040"/>
          </a:xfrm>
          <a:prstGeom prst="rect">
            <a:avLst/>
          </a:prstGeom>
          <a:noFill/>
          <a:ln/>
        </p:spPr>
        <p:txBody>
          <a:bodyPr wrap="square" lIns="0" tIns="0" rIns="0" bIns="0" rtlCol="0" anchor="ctr"/>
          <a:lstStyle/>
          <a:p>
            <a:pPr marL="0" indent="0">
              <a:buNone/>
            </a:pPr>
            <a:r>
              <a:rPr lang="en-US" sz="1400" b="1" kern="0" spc="200" dirty="0">
                <a:solidFill>
                  <a:srgbClr val="1F5FBF"/>
                </a:solidFill>
                <a:latin typeface="Calibri" pitchFamily="34" charset="0"/>
                <a:ea typeface="Calibri" pitchFamily="34" charset="-122"/>
                <a:cs typeface="Calibri" pitchFamily="34" charset="-120"/>
              </a:rPr>
              <a:t>MILESTONE 1</a:t>
            </a:r>
            <a:endParaRPr lang="en-US" sz="1400" dirty="0"/>
          </a:p>
        </p:txBody>
      </p:sp>
      <p:sp>
        <p:nvSpPr>
          <p:cNvPr id="4" name="Text 2"/>
          <p:cNvSpPr txBox="1"/>
          <p:nvPr/>
        </p:nvSpPr>
        <p:spPr>
          <a:xfrm>
            <a:off x="457200" y="3611880"/>
            <a:ext cx="6400800" cy="2743200"/>
          </a:xfrm>
          <a:prstGeom prst="rect">
            <a:avLst/>
          </a:prstGeom>
          <a:noFill/>
          <a:ln/>
        </p:spPr>
        <p:txBody>
          <a:bodyPr wrap="square" lIns="0" tIns="0" rIns="0" bIns="0" rtlCol="0" anchor="t"/>
          <a:lstStyle/>
          <a:p>
            <a:pPr marL="0" indent="0">
              <a:spcAft>
                <a:spcPts val="200"/>
              </a:spcAft>
              <a:buNone/>
            </a:pPr>
            <a:r>
              <a:rPr lang="en-US" sz="1400" b="1" dirty="0">
                <a:solidFill>
                  <a:srgbClr val="1B2B45"/>
                </a:solidFill>
                <a:latin typeface="Calibri" pitchFamily="34" charset="0"/>
                <a:ea typeface="Calibri" pitchFamily="34" charset="-122"/>
                <a:cs typeface="Calibri" pitchFamily="34" charset="-120"/>
              </a:rPr>
              <a:t>Batch: </a:t>
            </a:r>
            <a:r>
              <a:rPr lang="en-US" sz="1400" dirty="0">
                <a:solidFill>
                  <a:srgbClr val="1B2B45"/>
                </a:solidFill>
                <a:latin typeface="Calibri" pitchFamily="34" charset="0"/>
                <a:ea typeface="Calibri" pitchFamily="34" charset="-122"/>
                <a:cs typeface="Calibri" pitchFamily="34" charset="-120"/>
              </a:rPr>
              <a:t> 4</a:t>
            </a:r>
            <a:endParaRPr lang="en-US" sz="1400" dirty="0"/>
          </a:p>
          <a:p>
            <a:pPr marL="0" indent="0">
              <a:spcAft>
                <a:spcPts val="200"/>
              </a:spcAft>
              <a:buNone/>
            </a:pPr>
            <a:r>
              <a:rPr lang="en-US" sz="1400" b="1" dirty="0">
                <a:solidFill>
                  <a:srgbClr val="1B2B45"/>
                </a:solidFill>
                <a:latin typeface="Calibri" pitchFamily="34" charset="0"/>
                <a:ea typeface="Calibri" pitchFamily="34" charset="-122"/>
                <a:cs typeface="Calibri" pitchFamily="34" charset="-120"/>
              </a:rPr>
              <a:t>Year: </a:t>
            </a:r>
            <a:r>
              <a:rPr lang="en-US" sz="1400" dirty="0">
                <a:solidFill>
                  <a:srgbClr val="1B2B45"/>
                </a:solidFill>
                <a:latin typeface="Calibri" pitchFamily="34" charset="0"/>
                <a:ea typeface="Calibri" pitchFamily="34" charset="-122"/>
                <a:cs typeface="Calibri" pitchFamily="34" charset="-120"/>
              </a:rPr>
              <a:t> Third Year Btech in CSE</a:t>
            </a:r>
            <a:endParaRPr lang="en-US" sz="1400" dirty="0"/>
          </a:p>
          <a:p>
            <a:pPr marL="0" indent="0">
              <a:spcAft>
                <a:spcPts val="200"/>
              </a:spcAft>
              <a:buNone/>
            </a:pPr>
            <a:r>
              <a:rPr lang="en-US" sz="1400" b="1" dirty="0">
                <a:solidFill>
                  <a:srgbClr val="1B2B45"/>
                </a:solidFill>
                <a:latin typeface="Calibri" pitchFamily="34" charset="0"/>
                <a:ea typeface="Calibri" pitchFamily="34" charset="-122"/>
                <a:cs typeface="Calibri" pitchFamily="34" charset="-120"/>
              </a:rPr>
              <a:t>Team Name: </a:t>
            </a:r>
            <a:r>
              <a:rPr lang="en-US" sz="1400" dirty="0">
                <a:solidFill>
                  <a:srgbClr val="1B2B45"/>
                </a:solidFill>
                <a:latin typeface="Calibri" pitchFamily="34" charset="0"/>
                <a:ea typeface="Calibri" pitchFamily="34" charset="-122"/>
                <a:cs typeface="Calibri" pitchFamily="34" charset="-120"/>
              </a:rPr>
              <a:t>B</a:t>
            </a:r>
            <a:endParaRPr lang="en-US" sz="1400" dirty="0"/>
          </a:p>
          <a:p>
            <a:pPr marL="0" indent="0">
              <a:spcAft>
                <a:spcPts val="200"/>
              </a:spcAft>
              <a:buNone/>
            </a:pPr>
            <a:r>
              <a:rPr lang="en-US" sz="1400" b="1" dirty="0">
                <a:solidFill>
                  <a:srgbClr val="1B2B45"/>
                </a:solidFill>
                <a:latin typeface="Calibri" pitchFamily="34" charset="0"/>
                <a:ea typeface="Calibri" pitchFamily="34" charset="-122"/>
                <a:cs typeface="Calibri" pitchFamily="34" charset="-120"/>
              </a:rPr>
              <a:t>Internship Duration: </a:t>
            </a:r>
            <a:r>
              <a:rPr lang="en-US" sz="1400" dirty="0">
                <a:solidFill>
                  <a:srgbClr val="1B2B45"/>
                </a:solidFill>
                <a:latin typeface="Calibri" pitchFamily="34" charset="0"/>
                <a:ea typeface="Calibri" pitchFamily="34" charset="-122"/>
                <a:cs typeface="Calibri" pitchFamily="34" charset="-120"/>
              </a:rPr>
              <a:t>8 weeks</a:t>
            </a:r>
            <a:endParaRPr lang="en-US" sz="1400" dirty="0"/>
          </a:p>
          <a:p>
            <a:pPr marL="0" indent="0">
              <a:spcAft>
                <a:spcPts val="200"/>
              </a:spcAft>
              <a:buNone/>
            </a:pPr>
            <a:r>
              <a:rPr lang="en-US" sz="800" dirty="0">
                <a:solidFill>
                  <a:srgbClr val="1B2B45"/>
                </a:solidFill>
                <a:latin typeface="Calibri" pitchFamily="34" charset="0"/>
                <a:ea typeface="Calibri" pitchFamily="34" charset="-122"/>
                <a:cs typeface="Calibri" pitchFamily="34" charset="-120"/>
              </a:rPr>
              <a:t> </a:t>
            </a:r>
            <a:endParaRPr lang="en-US" sz="1400" dirty="0"/>
          </a:p>
          <a:p>
            <a:pPr marL="0" indent="0">
              <a:spcAft>
                <a:spcPts val="200"/>
              </a:spcAft>
              <a:buNone/>
            </a:pPr>
            <a:r>
              <a:rPr lang="en-US" sz="1400" b="1" dirty="0">
                <a:solidFill>
                  <a:srgbClr val="1B2B45"/>
                </a:solidFill>
                <a:latin typeface="Calibri" pitchFamily="34" charset="0"/>
                <a:ea typeface="Calibri" pitchFamily="34" charset="-122"/>
                <a:cs typeface="Calibri" pitchFamily="34" charset="-120"/>
              </a:rPr>
              <a:t>Mentor Name : </a:t>
            </a:r>
            <a:r>
              <a:rPr lang="en-US" sz="1400" dirty="0">
                <a:solidFill>
                  <a:srgbClr val="1B2B45"/>
                </a:solidFill>
                <a:latin typeface="Calibri" pitchFamily="34" charset="0"/>
                <a:ea typeface="Calibri" pitchFamily="34" charset="-122"/>
                <a:cs typeface="Calibri" pitchFamily="34" charset="-120"/>
              </a:rPr>
              <a:t>NithyaSree, SJ</a:t>
            </a:r>
            <a:endParaRPr lang="en-US" sz="1400" dirty="0"/>
          </a:p>
          <a:p>
            <a:pPr marL="0" indent="0">
              <a:spcAft>
                <a:spcPts val="200"/>
              </a:spcAft>
              <a:buNone/>
            </a:pPr>
            <a:r>
              <a:rPr lang="en-US" sz="800" dirty="0">
                <a:solidFill>
                  <a:srgbClr val="1B2B45"/>
                </a:solidFill>
                <a:latin typeface="Calibri" pitchFamily="34" charset="0"/>
                <a:ea typeface="Calibri" pitchFamily="34" charset="-122"/>
                <a:cs typeface="Calibri" pitchFamily="34" charset="-120"/>
              </a:rPr>
              <a:t> </a:t>
            </a:r>
            <a:endParaRPr lang="en-US" sz="1400" dirty="0"/>
          </a:p>
          <a:p>
            <a:pPr marL="0" indent="0">
              <a:spcAft>
                <a:spcPts val="200"/>
              </a:spcAft>
              <a:buNone/>
            </a:pPr>
            <a:r>
              <a:rPr lang="en-US" sz="1400" b="1" dirty="0">
                <a:solidFill>
                  <a:srgbClr val="1B2B45"/>
                </a:solidFill>
                <a:latin typeface="Calibri" pitchFamily="34" charset="0"/>
                <a:ea typeface="Calibri" pitchFamily="34" charset="-122"/>
                <a:cs typeface="Calibri" pitchFamily="34" charset="-120"/>
              </a:rPr>
              <a:t>Submitted By:</a:t>
            </a:r>
            <a:endParaRPr lang="en-US" sz="1400" dirty="0"/>
          </a:p>
          <a:p>
            <a:pPr marL="0" indent="0">
              <a:spcAft>
                <a:spcPts val="200"/>
              </a:spcAft>
              <a:buNone/>
            </a:pPr>
            <a:r>
              <a:rPr lang="en-US" sz="1400" dirty="0">
                <a:solidFill>
                  <a:srgbClr val="1B2B45"/>
                </a:solidFill>
                <a:latin typeface="Calibri" pitchFamily="34" charset="0"/>
                <a:ea typeface="Calibri" pitchFamily="34" charset="-122"/>
                <a:cs typeface="Calibri" pitchFamily="34" charset="-120"/>
              </a:rPr>
              <a:t>1. Pari Patel</a:t>
            </a:r>
            <a:endParaRPr lang="en-US" sz="1400" dirty="0"/>
          </a:p>
          <a:p>
            <a:pPr marL="0" indent="0">
              <a:spcAft>
                <a:spcPts val="200"/>
              </a:spcAft>
              <a:buNone/>
            </a:pPr>
            <a:r>
              <a:rPr lang="en-US" sz="1400" dirty="0">
                <a:solidFill>
                  <a:srgbClr val="1B2B45"/>
                </a:solidFill>
                <a:latin typeface="Calibri" pitchFamily="34" charset="0"/>
                <a:ea typeface="Calibri" pitchFamily="34" charset="-122"/>
                <a:cs typeface="Calibri" pitchFamily="34" charset="-120"/>
              </a:rPr>
              <a:t>2. Sai Sri Venkata Gopi Nukala</a:t>
            </a:r>
            <a:endParaRPr lang="en-US" sz="1400" dirty="0"/>
          </a:p>
          <a:p>
            <a:pPr marL="0" indent="0">
              <a:spcAft>
                <a:spcPts val="200"/>
              </a:spcAft>
              <a:buNone/>
            </a:pPr>
            <a:r>
              <a:rPr lang="en-US" sz="1400" dirty="0">
                <a:solidFill>
                  <a:srgbClr val="1B2B45"/>
                </a:solidFill>
                <a:latin typeface="Calibri" pitchFamily="34" charset="0"/>
                <a:ea typeface="Calibri" pitchFamily="34" charset="-122"/>
                <a:cs typeface="Calibri" pitchFamily="34" charset="-120"/>
              </a:rPr>
              <a:t>3. Hara Prasad S</a:t>
            </a:r>
            <a:endParaRPr lang="en-US" sz="1400" dirty="0"/>
          </a:p>
          <a:p>
            <a:pPr marL="0" indent="0">
              <a:spcAft>
                <a:spcPts val="200"/>
              </a:spcAft>
              <a:buNone/>
            </a:pPr>
            <a:r>
              <a:rPr lang="en-US" sz="1400" dirty="0">
                <a:solidFill>
                  <a:srgbClr val="1B2B45"/>
                </a:solidFill>
                <a:latin typeface="Calibri" pitchFamily="34" charset="0"/>
                <a:ea typeface="Calibri" pitchFamily="34" charset="-122"/>
                <a:cs typeface="Calibri" pitchFamily="34" charset="-120"/>
              </a:rPr>
              <a:t>4. Abisha S</a:t>
            </a:r>
            <a:endParaRPr lang="en-US" sz="1400" dirty="0"/>
          </a:p>
        </p:txBody>
      </p:sp>
      <p:sp>
        <p:nvSpPr>
          <p:cNvPr id="7" name="Text 4"/>
          <p:cNvSpPr txBox="1"/>
          <p:nvPr/>
        </p:nvSpPr>
        <p:spPr>
          <a:xfrm>
            <a:off x="457200" y="6446520"/>
            <a:ext cx="6400800" cy="256032"/>
          </a:xfrm>
          <a:prstGeom prst="rect">
            <a:avLst/>
          </a:prstGeom>
          <a:noFill/>
          <a:ln/>
        </p:spPr>
        <p:txBody>
          <a:bodyPr wrap="square" lIns="0" tIns="0" rIns="0" bIns="0" rtlCol="0" anchor="ctr"/>
          <a:lstStyle/>
          <a:p>
            <a:pPr marL="0" indent="0">
              <a:buNone/>
            </a:pPr>
            <a:r>
              <a:rPr lang="en-US" sz="900" b="1" dirty="0">
                <a:solidFill>
                  <a:srgbClr val="5B6B80"/>
                </a:solidFill>
                <a:latin typeface="Calibri" pitchFamily="34" charset="0"/>
                <a:ea typeface="Calibri" pitchFamily="34" charset="-122"/>
                <a:cs typeface="Calibri" pitchFamily="34" charset="-120"/>
              </a:rPr>
              <a:t>INFOSYS SPRINGBOARD VIRTUAL INTERNSHIP 7.0</a:t>
            </a:r>
            <a:endParaRPr lang="en-US" sz="900" dirty="0"/>
          </a:p>
        </p:txBody>
      </p:sp>
      <p:sp>
        <p:nvSpPr>
          <p:cNvPr id="8" name="Text 5"/>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PARI PATEL  •  BATCH 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566928"/>
            <a:ext cx="9509760" cy="640080"/>
          </a:xfrm>
          <a:prstGeom prst="rect">
            <a:avLst/>
          </a:prstGeom>
          <a:noFill/>
          <a:ln/>
        </p:spPr>
        <p:txBody>
          <a:bodyPr wrap="square" lIns="0" tIns="0" rIns="0" bIns="0" rtlCol="0" anchor="ctr"/>
          <a:lstStyle/>
          <a:p>
            <a:pPr marL="0" indent="0">
              <a:buNone/>
            </a:pPr>
            <a:r>
              <a:rPr lang="en-US" sz="3200" b="1" dirty="0">
                <a:solidFill>
                  <a:srgbClr val="12315E"/>
                </a:solidFill>
                <a:latin typeface="Calibri" pitchFamily="34" charset="0"/>
                <a:ea typeface="Calibri" pitchFamily="34" charset="-122"/>
                <a:cs typeface="Calibri" pitchFamily="34" charset="-120"/>
              </a:rPr>
              <a:t>Content</a:t>
            </a:r>
            <a:endParaRPr lang="en-US" sz="3200" dirty="0"/>
          </a:p>
        </p:txBody>
      </p:sp>
      <p:sp>
        <p:nvSpPr>
          <p:cNvPr id="3" name="Shape 1"/>
          <p:cNvSpPr/>
          <p:nvPr/>
        </p:nvSpPr>
        <p:spPr>
          <a:xfrm>
            <a:off x="1097280" y="1508760"/>
            <a:ext cx="9966960" cy="420624"/>
          </a:xfrm>
          <a:prstGeom prst="roundRect">
            <a:avLst>
              <a:gd name="adj" fmla="val 13043"/>
            </a:avLst>
          </a:prstGeom>
          <a:solidFill>
            <a:srgbClr val="EAF2FC"/>
          </a:solidFill>
          <a:ln w="12700">
            <a:solidFill>
              <a:srgbClr val="C5D9F2"/>
            </a:solidFill>
            <a:prstDash val="solid"/>
          </a:ln>
        </p:spPr>
      </p:sp>
      <p:sp>
        <p:nvSpPr>
          <p:cNvPr id="4" name="Text 2"/>
          <p:cNvSpPr txBox="1"/>
          <p:nvPr/>
        </p:nvSpPr>
        <p:spPr>
          <a:xfrm>
            <a:off x="1234440" y="1508760"/>
            <a:ext cx="548640" cy="420624"/>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01</a:t>
            </a:r>
            <a:endParaRPr lang="en-US" sz="1400" dirty="0"/>
          </a:p>
        </p:txBody>
      </p:sp>
      <p:sp>
        <p:nvSpPr>
          <p:cNvPr id="5" name="Text 3"/>
          <p:cNvSpPr txBox="1"/>
          <p:nvPr/>
        </p:nvSpPr>
        <p:spPr>
          <a:xfrm>
            <a:off x="1920240" y="1508760"/>
            <a:ext cx="7772400" cy="420624"/>
          </a:xfrm>
          <a:prstGeom prst="rect">
            <a:avLst/>
          </a:prstGeom>
          <a:noFill/>
          <a:ln/>
        </p:spPr>
        <p:txBody>
          <a:bodyPr wrap="square" lIns="0" tIns="0" rIns="0" bIns="0" rtlCol="0" anchor="ctr"/>
          <a:lstStyle/>
          <a:p>
            <a:pPr marL="0" indent="0">
              <a:buNone/>
            </a:pPr>
            <a:r>
              <a:rPr lang="en-US" sz="1600" dirty="0">
                <a:solidFill>
                  <a:srgbClr val="1B2B45"/>
                </a:solidFill>
                <a:latin typeface="Calibri" pitchFamily="34" charset="0"/>
                <a:ea typeface="Calibri" pitchFamily="34" charset="-122"/>
                <a:cs typeface="Calibri" pitchFamily="34" charset="-120"/>
              </a:rPr>
              <a:t>Project Objective / Description</a:t>
            </a:r>
            <a:endParaRPr lang="en-US" sz="1600" dirty="0"/>
          </a:p>
        </p:txBody>
      </p:sp>
      <p:sp>
        <p:nvSpPr>
          <p:cNvPr id="6" name="Text 4"/>
          <p:cNvSpPr txBox="1"/>
          <p:nvPr/>
        </p:nvSpPr>
        <p:spPr>
          <a:xfrm>
            <a:off x="9784080" y="1508760"/>
            <a:ext cx="1097280" cy="420624"/>
          </a:xfrm>
          <a:prstGeom prst="rect">
            <a:avLst/>
          </a:prstGeom>
          <a:noFill/>
          <a:ln/>
        </p:spPr>
        <p:txBody>
          <a:bodyPr wrap="square" lIns="0" tIns="0" rIns="0" bIns="0" rtlCol="0" anchor="ctr"/>
          <a:lstStyle/>
          <a:p>
            <a:pPr marL="0" indent="0" algn="r">
              <a:buNone/>
            </a:pPr>
            <a:r>
              <a:rPr lang="en-US" sz="1600" b="1" dirty="0">
                <a:solidFill>
                  <a:srgbClr val="12315E"/>
                </a:solidFill>
                <a:latin typeface="Calibri" pitchFamily="34" charset="0"/>
                <a:ea typeface="Calibri" pitchFamily="34" charset="-122"/>
                <a:cs typeface="Calibri" pitchFamily="34" charset="-120"/>
              </a:rPr>
              <a:t>1</a:t>
            </a:r>
            <a:endParaRPr lang="en-US" sz="1600" dirty="0"/>
          </a:p>
        </p:txBody>
      </p:sp>
      <p:sp>
        <p:nvSpPr>
          <p:cNvPr id="7" name="Shape 5"/>
          <p:cNvSpPr/>
          <p:nvPr/>
        </p:nvSpPr>
        <p:spPr>
          <a:xfrm>
            <a:off x="1097280" y="2002536"/>
            <a:ext cx="9966960" cy="420624"/>
          </a:xfrm>
          <a:prstGeom prst="roundRect">
            <a:avLst>
              <a:gd name="adj" fmla="val 13043"/>
            </a:avLst>
          </a:prstGeom>
          <a:solidFill>
            <a:srgbClr val="FFFFFF"/>
          </a:solidFill>
          <a:ln w="12700">
            <a:solidFill>
              <a:srgbClr val="C5D9F2"/>
            </a:solidFill>
            <a:prstDash val="solid"/>
          </a:ln>
        </p:spPr>
      </p:sp>
      <p:sp>
        <p:nvSpPr>
          <p:cNvPr id="8" name="Text 6"/>
          <p:cNvSpPr txBox="1"/>
          <p:nvPr/>
        </p:nvSpPr>
        <p:spPr>
          <a:xfrm>
            <a:off x="1234440" y="2002536"/>
            <a:ext cx="548640" cy="420624"/>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02</a:t>
            </a:r>
            <a:endParaRPr lang="en-US" sz="1400" dirty="0"/>
          </a:p>
        </p:txBody>
      </p:sp>
      <p:sp>
        <p:nvSpPr>
          <p:cNvPr id="9" name="Text 7"/>
          <p:cNvSpPr txBox="1"/>
          <p:nvPr/>
        </p:nvSpPr>
        <p:spPr>
          <a:xfrm>
            <a:off x="1920240" y="2002536"/>
            <a:ext cx="7772400" cy="420624"/>
          </a:xfrm>
          <a:prstGeom prst="rect">
            <a:avLst/>
          </a:prstGeom>
          <a:noFill/>
          <a:ln/>
        </p:spPr>
        <p:txBody>
          <a:bodyPr wrap="square" lIns="0" tIns="0" rIns="0" bIns="0" rtlCol="0" anchor="ctr"/>
          <a:lstStyle/>
          <a:p>
            <a:pPr marL="0" indent="0">
              <a:buNone/>
            </a:pPr>
            <a:r>
              <a:rPr lang="en-US" sz="1600" dirty="0">
                <a:solidFill>
                  <a:srgbClr val="1B2B45"/>
                </a:solidFill>
                <a:latin typeface="Calibri" pitchFamily="34" charset="0"/>
                <a:ea typeface="Calibri" pitchFamily="34" charset="-122"/>
                <a:cs typeface="Calibri" pitchFamily="34" charset="-120"/>
              </a:rPr>
              <a:t>Technology Used</a:t>
            </a:r>
            <a:endParaRPr lang="en-US" sz="1600" dirty="0"/>
          </a:p>
        </p:txBody>
      </p:sp>
      <p:sp>
        <p:nvSpPr>
          <p:cNvPr id="10" name="Text 8"/>
          <p:cNvSpPr txBox="1"/>
          <p:nvPr/>
        </p:nvSpPr>
        <p:spPr>
          <a:xfrm>
            <a:off x="9784080" y="2002536"/>
            <a:ext cx="1097280" cy="420624"/>
          </a:xfrm>
          <a:prstGeom prst="rect">
            <a:avLst/>
          </a:prstGeom>
          <a:noFill/>
          <a:ln/>
        </p:spPr>
        <p:txBody>
          <a:bodyPr wrap="square" lIns="0" tIns="0" rIns="0" bIns="0" rtlCol="0" anchor="ctr"/>
          <a:lstStyle/>
          <a:p>
            <a:pPr marL="0" indent="0" algn="r">
              <a:buNone/>
            </a:pPr>
            <a:r>
              <a:rPr lang="en-US" sz="1600" b="1" dirty="0">
                <a:solidFill>
                  <a:srgbClr val="12315E"/>
                </a:solidFill>
                <a:latin typeface="Calibri" pitchFamily="34" charset="0"/>
                <a:ea typeface="Calibri" pitchFamily="34" charset="-122"/>
                <a:cs typeface="Calibri" pitchFamily="34" charset="-120"/>
              </a:rPr>
              <a:t>3</a:t>
            </a:r>
            <a:endParaRPr lang="en-US" sz="1600" dirty="0"/>
          </a:p>
        </p:txBody>
      </p:sp>
      <p:sp>
        <p:nvSpPr>
          <p:cNvPr id="11" name="Shape 9"/>
          <p:cNvSpPr/>
          <p:nvPr/>
        </p:nvSpPr>
        <p:spPr>
          <a:xfrm>
            <a:off x="1097280" y="2496312"/>
            <a:ext cx="9966960" cy="420624"/>
          </a:xfrm>
          <a:prstGeom prst="roundRect">
            <a:avLst>
              <a:gd name="adj" fmla="val 13043"/>
            </a:avLst>
          </a:prstGeom>
          <a:solidFill>
            <a:srgbClr val="EAF2FC"/>
          </a:solidFill>
          <a:ln w="12700">
            <a:solidFill>
              <a:srgbClr val="C5D9F2"/>
            </a:solidFill>
            <a:prstDash val="solid"/>
          </a:ln>
        </p:spPr>
      </p:sp>
      <p:sp>
        <p:nvSpPr>
          <p:cNvPr id="12" name="Text 10"/>
          <p:cNvSpPr txBox="1"/>
          <p:nvPr/>
        </p:nvSpPr>
        <p:spPr>
          <a:xfrm>
            <a:off x="1234440" y="2496312"/>
            <a:ext cx="548640" cy="420624"/>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03</a:t>
            </a:r>
            <a:endParaRPr lang="en-US" sz="1400" dirty="0"/>
          </a:p>
        </p:txBody>
      </p:sp>
      <p:sp>
        <p:nvSpPr>
          <p:cNvPr id="13" name="Text 11"/>
          <p:cNvSpPr txBox="1"/>
          <p:nvPr/>
        </p:nvSpPr>
        <p:spPr>
          <a:xfrm>
            <a:off x="1920240" y="2496312"/>
            <a:ext cx="7772400" cy="420624"/>
          </a:xfrm>
          <a:prstGeom prst="rect">
            <a:avLst/>
          </a:prstGeom>
          <a:noFill/>
          <a:ln/>
        </p:spPr>
        <p:txBody>
          <a:bodyPr wrap="square" lIns="0" tIns="0" rIns="0" bIns="0" rtlCol="0" anchor="ctr"/>
          <a:lstStyle/>
          <a:p>
            <a:pPr marL="0" indent="0">
              <a:buNone/>
            </a:pPr>
            <a:r>
              <a:rPr lang="en-US" sz="1600" dirty="0">
                <a:solidFill>
                  <a:srgbClr val="1B2B45"/>
                </a:solidFill>
                <a:latin typeface="Calibri" pitchFamily="34" charset="0"/>
                <a:ea typeface="Calibri" pitchFamily="34" charset="-122"/>
                <a:cs typeface="Calibri" pitchFamily="34" charset="-120"/>
              </a:rPr>
              <a:t>Complete Data Preprocessing Workflow</a:t>
            </a:r>
            <a:endParaRPr lang="en-US" sz="1600" dirty="0"/>
          </a:p>
        </p:txBody>
      </p:sp>
      <p:sp>
        <p:nvSpPr>
          <p:cNvPr id="14" name="Text 12"/>
          <p:cNvSpPr txBox="1"/>
          <p:nvPr/>
        </p:nvSpPr>
        <p:spPr>
          <a:xfrm>
            <a:off x="9784080" y="2496312"/>
            <a:ext cx="1097280" cy="420624"/>
          </a:xfrm>
          <a:prstGeom prst="rect">
            <a:avLst/>
          </a:prstGeom>
          <a:noFill/>
          <a:ln/>
        </p:spPr>
        <p:txBody>
          <a:bodyPr wrap="square" lIns="0" tIns="0" rIns="0" bIns="0" rtlCol="0" anchor="ctr"/>
          <a:lstStyle/>
          <a:p>
            <a:pPr marL="0" indent="0" algn="r">
              <a:buNone/>
            </a:pPr>
            <a:r>
              <a:rPr lang="en-US" sz="1600" b="1" dirty="0">
                <a:solidFill>
                  <a:srgbClr val="12315E"/>
                </a:solidFill>
                <a:latin typeface="Calibri" pitchFamily="34" charset="0"/>
                <a:ea typeface="Calibri" pitchFamily="34" charset="-122"/>
                <a:cs typeface="Calibri" pitchFamily="34" charset="-120"/>
              </a:rPr>
              <a:t>3</a:t>
            </a:r>
            <a:endParaRPr lang="en-US" sz="1600" dirty="0"/>
          </a:p>
        </p:txBody>
      </p:sp>
      <p:sp>
        <p:nvSpPr>
          <p:cNvPr id="15" name="Shape 13"/>
          <p:cNvSpPr/>
          <p:nvPr/>
        </p:nvSpPr>
        <p:spPr>
          <a:xfrm>
            <a:off x="1097280" y="2990088"/>
            <a:ext cx="9966960" cy="420624"/>
          </a:xfrm>
          <a:prstGeom prst="roundRect">
            <a:avLst>
              <a:gd name="adj" fmla="val 13043"/>
            </a:avLst>
          </a:prstGeom>
          <a:solidFill>
            <a:srgbClr val="FFFFFF"/>
          </a:solidFill>
          <a:ln w="12700">
            <a:solidFill>
              <a:srgbClr val="C5D9F2"/>
            </a:solidFill>
            <a:prstDash val="solid"/>
          </a:ln>
        </p:spPr>
      </p:sp>
      <p:sp>
        <p:nvSpPr>
          <p:cNvPr id="16" name="Text 14"/>
          <p:cNvSpPr txBox="1"/>
          <p:nvPr/>
        </p:nvSpPr>
        <p:spPr>
          <a:xfrm>
            <a:off x="1234440" y="2990088"/>
            <a:ext cx="548640" cy="420624"/>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04</a:t>
            </a:r>
            <a:endParaRPr lang="en-US" sz="1400" dirty="0"/>
          </a:p>
        </p:txBody>
      </p:sp>
      <p:sp>
        <p:nvSpPr>
          <p:cNvPr id="17" name="Text 15"/>
          <p:cNvSpPr txBox="1"/>
          <p:nvPr/>
        </p:nvSpPr>
        <p:spPr>
          <a:xfrm>
            <a:off x="1920240" y="2990088"/>
            <a:ext cx="7772400" cy="420624"/>
          </a:xfrm>
          <a:prstGeom prst="rect">
            <a:avLst/>
          </a:prstGeom>
          <a:noFill/>
          <a:ln/>
        </p:spPr>
        <p:txBody>
          <a:bodyPr wrap="square" lIns="0" tIns="0" rIns="0" bIns="0" rtlCol="0" anchor="ctr"/>
          <a:lstStyle/>
          <a:p>
            <a:pPr marL="0" indent="0">
              <a:buNone/>
            </a:pPr>
            <a:r>
              <a:rPr lang="en-US" sz="1600" dirty="0">
                <a:solidFill>
                  <a:srgbClr val="1B2B45"/>
                </a:solidFill>
                <a:latin typeface="Calibri" pitchFamily="34" charset="0"/>
                <a:ea typeface="Calibri" pitchFamily="34" charset="-122"/>
                <a:cs typeface="Calibri" pitchFamily="34" charset="-120"/>
              </a:rPr>
              <a:t>Dataset Overview: Six Main Categories</a:t>
            </a:r>
            <a:endParaRPr lang="en-US" sz="1600" dirty="0"/>
          </a:p>
        </p:txBody>
      </p:sp>
      <p:sp>
        <p:nvSpPr>
          <p:cNvPr id="18" name="Text 16"/>
          <p:cNvSpPr txBox="1"/>
          <p:nvPr/>
        </p:nvSpPr>
        <p:spPr>
          <a:xfrm>
            <a:off x="9784080" y="2990088"/>
            <a:ext cx="1097280" cy="420624"/>
          </a:xfrm>
          <a:prstGeom prst="rect">
            <a:avLst/>
          </a:prstGeom>
          <a:noFill/>
          <a:ln/>
        </p:spPr>
        <p:txBody>
          <a:bodyPr wrap="square" lIns="0" tIns="0" rIns="0" bIns="0" rtlCol="0" anchor="ctr"/>
          <a:lstStyle/>
          <a:p>
            <a:pPr marL="0" indent="0" algn="r">
              <a:buNone/>
            </a:pPr>
            <a:r>
              <a:rPr lang="en-US" sz="1600" b="1" dirty="0">
                <a:solidFill>
                  <a:srgbClr val="12315E"/>
                </a:solidFill>
                <a:latin typeface="Calibri" pitchFamily="34" charset="0"/>
                <a:ea typeface="Calibri" pitchFamily="34" charset="-122"/>
                <a:cs typeface="Calibri" pitchFamily="34" charset="-120"/>
              </a:rPr>
              <a:t>4</a:t>
            </a:r>
            <a:endParaRPr lang="en-US" sz="1600" dirty="0"/>
          </a:p>
        </p:txBody>
      </p:sp>
      <p:sp>
        <p:nvSpPr>
          <p:cNvPr id="19" name="Shape 17"/>
          <p:cNvSpPr/>
          <p:nvPr/>
        </p:nvSpPr>
        <p:spPr>
          <a:xfrm>
            <a:off x="1097280" y="3483864"/>
            <a:ext cx="9966960" cy="420624"/>
          </a:xfrm>
          <a:prstGeom prst="roundRect">
            <a:avLst>
              <a:gd name="adj" fmla="val 13043"/>
            </a:avLst>
          </a:prstGeom>
          <a:solidFill>
            <a:srgbClr val="EAF2FC"/>
          </a:solidFill>
          <a:ln w="12700">
            <a:solidFill>
              <a:srgbClr val="C5D9F2"/>
            </a:solidFill>
            <a:prstDash val="solid"/>
          </a:ln>
        </p:spPr>
      </p:sp>
      <p:sp>
        <p:nvSpPr>
          <p:cNvPr id="20" name="Text 18"/>
          <p:cNvSpPr txBox="1"/>
          <p:nvPr/>
        </p:nvSpPr>
        <p:spPr>
          <a:xfrm>
            <a:off x="1234440" y="3483864"/>
            <a:ext cx="548640" cy="420624"/>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05</a:t>
            </a:r>
            <a:endParaRPr lang="en-US" sz="1400" dirty="0"/>
          </a:p>
        </p:txBody>
      </p:sp>
      <p:sp>
        <p:nvSpPr>
          <p:cNvPr id="21" name="Text 19"/>
          <p:cNvSpPr txBox="1"/>
          <p:nvPr/>
        </p:nvSpPr>
        <p:spPr>
          <a:xfrm>
            <a:off x="1920240" y="3483864"/>
            <a:ext cx="7772400" cy="420624"/>
          </a:xfrm>
          <a:prstGeom prst="rect">
            <a:avLst/>
          </a:prstGeom>
          <a:noFill/>
          <a:ln/>
        </p:spPr>
        <p:txBody>
          <a:bodyPr wrap="square" lIns="0" tIns="0" rIns="0" bIns="0" rtlCol="0" anchor="ctr"/>
          <a:lstStyle/>
          <a:p>
            <a:pPr marL="0" indent="0">
              <a:buNone/>
            </a:pPr>
            <a:r>
              <a:rPr lang="en-US" sz="1600" dirty="0">
                <a:solidFill>
                  <a:srgbClr val="1B2B45"/>
                </a:solidFill>
                <a:latin typeface="Calibri" pitchFamily="34" charset="0"/>
                <a:ea typeface="Calibri" pitchFamily="34" charset="-122"/>
                <a:cs typeface="Calibri" pitchFamily="34" charset="-120"/>
              </a:rPr>
              <a:t>Validation: Check Before You Analyse</a:t>
            </a:r>
            <a:endParaRPr lang="en-US" sz="1600" dirty="0"/>
          </a:p>
        </p:txBody>
      </p:sp>
      <p:sp>
        <p:nvSpPr>
          <p:cNvPr id="22" name="Text 20"/>
          <p:cNvSpPr txBox="1"/>
          <p:nvPr/>
        </p:nvSpPr>
        <p:spPr>
          <a:xfrm>
            <a:off x="9784080" y="3483864"/>
            <a:ext cx="1097280" cy="420624"/>
          </a:xfrm>
          <a:prstGeom prst="rect">
            <a:avLst/>
          </a:prstGeom>
          <a:noFill/>
          <a:ln/>
        </p:spPr>
        <p:txBody>
          <a:bodyPr wrap="square" lIns="0" tIns="0" rIns="0" bIns="0" rtlCol="0" anchor="ctr"/>
          <a:lstStyle/>
          <a:p>
            <a:pPr marL="0" indent="0" algn="r">
              <a:buNone/>
            </a:pPr>
            <a:r>
              <a:rPr lang="en-US" sz="1600" b="1" dirty="0">
                <a:solidFill>
                  <a:srgbClr val="12315E"/>
                </a:solidFill>
                <a:latin typeface="Calibri" pitchFamily="34" charset="0"/>
                <a:ea typeface="Calibri" pitchFamily="34" charset="-122"/>
                <a:cs typeface="Calibri" pitchFamily="34" charset="-120"/>
              </a:rPr>
              <a:t>6</a:t>
            </a:r>
            <a:endParaRPr lang="en-US" sz="1600" dirty="0"/>
          </a:p>
        </p:txBody>
      </p:sp>
      <p:sp>
        <p:nvSpPr>
          <p:cNvPr id="23" name="Shape 21"/>
          <p:cNvSpPr/>
          <p:nvPr/>
        </p:nvSpPr>
        <p:spPr>
          <a:xfrm>
            <a:off x="1097280" y="3977640"/>
            <a:ext cx="9966960" cy="420624"/>
          </a:xfrm>
          <a:prstGeom prst="roundRect">
            <a:avLst>
              <a:gd name="adj" fmla="val 13043"/>
            </a:avLst>
          </a:prstGeom>
          <a:solidFill>
            <a:srgbClr val="FFFFFF"/>
          </a:solidFill>
          <a:ln w="12700">
            <a:solidFill>
              <a:srgbClr val="C5D9F2"/>
            </a:solidFill>
            <a:prstDash val="solid"/>
          </a:ln>
        </p:spPr>
      </p:sp>
      <p:sp>
        <p:nvSpPr>
          <p:cNvPr id="24" name="Text 22"/>
          <p:cNvSpPr txBox="1"/>
          <p:nvPr/>
        </p:nvSpPr>
        <p:spPr>
          <a:xfrm>
            <a:off x="1234440" y="3977640"/>
            <a:ext cx="548640" cy="420624"/>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06</a:t>
            </a:r>
            <a:endParaRPr lang="en-US" sz="1400" dirty="0"/>
          </a:p>
        </p:txBody>
      </p:sp>
      <p:sp>
        <p:nvSpPr>
          <p:cNvPr id="25" name="Text 23"/>
          <p:cNvSpPr txBox="1"/>
          <p:nvPr/>
        </p:nvSpPr>
        <p:spPr>
          <a:xfrm>
            <a:off x="1920240" y="3977640"/>
            <a:ext cx="7772400" cy="420624"/>
          </a:xfrm>
          <a:prstGeom prst="rect">
            <a:avLst/>
          </a:prstGeom>
          <a:noFill/>
          <a:ln/>
        </p:spPr>
        <p:txBody>
          <a:bodyPr wrap="square" lIns="0" tIns="0" rIns="0" bIns="0" rtlCol="0" anchor="ctr"/>
          <a:lstStyle/>
          <a:p>
            <a:pPr marL="0" indent="0">
              <a:buNone/>
            </a:pPr>
            <a:r>
              <a:rPr lang="en-US" sz="1600" dirty="0">
                <a:solidFill>
                  <a:srgbClr val="1B2B45"/>
                </a:solidFill>
                <a:latin typeface="Calibri" pitchFamily="34" charset="0"/>
                <a:ea typeface="Calibri" pitchFamily="34" charset="-122"/>
                <a:cs typeface="Calibri" pitchFamily="34" charset="-120"/>
              </a:rPr>
              <a:t>Feature Engineering: Three Added Columns</a:t>
            </a:r>
            <a:endParaRPr lang="en-US" sz="1600" dirty="0"/>
          </a:p>
        </p:txBody>
      </p:sp>
      <p:sp>
        <p:nvSpPr>
          <p:cNvPr id="26" name="Text 24"/>
          <p:cNvSpPr txBox="1"/>
          <p:nvPr/>
        </p:nvSpPr>
        <p:spPr>
          <a:xfrm>
            <a:off x="9784080" y="3977640"/>
            <a:ext cx="1097280" cy="420624"/>
          </a:xfrm>
          <a:prstGeom prst="rect">
            <a:avLst/>
          </a:prstGeom>
          <a:noFill/>
          <a:ln/>
        </p:spPr>
        <p:txBody>
          <a:bodyPr wrap="square" lIns="0" tIns="0" rIns="0" bIns="0" rtlCol="0" anchor="ctr"/>
          <a:lstStyle/>
          <a:p>
            <a:pPr marL="0" indent="0" algn="r">
              <a:buNone/>
            </a:pPr>
            <a:r>
              <a:rPr lang="en-US" sz="1600" b="1" dirty="0">
                <a:solidFill>
                  <a:srgbClr val="12315E"/>
                </a:solidFill>
                <a:latin typeface="Calibri" pitchFamily="34" charset="0"/>
                <a:ea typeface="Calibri" pitchFamily="34" charset="-122"/>
                <a:cs typeface="Calibri" pitchFamily="34" charset="-120"/>
              </a:rPr>
              <a:t>7</a:t>
            </a:r>
            <a:endParaRPr lang="en-US" sz="1600" dirty="0"/>
          </a:p>
        </p:txBody>
      </p:sp>
      <p:sp>
        <p:nvSpPr>
          <p:cNvPr id="27" name="Shape 25"/>
          <p:cNvSpPr/>
          <p:nvPr/>
        </p:nvSpPr>
        <p:spPr>
          <a:xfrm>
            <a:off x="1097280" y="4471416"/>
            <a:ext cx="9966960" cy="420624"/>
          </a:xfrm>
          <a:prstGeom prst="roundRect">
            <a:avLst>
              <a:gd name="adj" fmla="val 13043"/>
            </a:avLst>
          </a:prstGeom>
          <a:solidFill>
            <a:srgbClr val="EAF2FC"/>
          </a:solidFill>
          <a:ln w="12700">
            <a:solidFill>
              <a:srgbClr val="C5D9F2"/>
            </a:solidFill>
            <a:prstDash val="solid"/>
          </a:ln>
        </p:spPr>
      </p:sp>
      <p:sp>
        <p:nvSpPr>
          <p:cNvPr id="28" name="Text 26"/>
          <p:cNvSpPr txBox="1"/>
          <p:nvPr/>
        </p:nvSpPr>
        <p:spPr>
          <a:xfrm>
            <a:off x="1234440" y="4471416"/>
            <a:ext cx="548640" cy="420624"/>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07</a:t>
            </a:r>
            <a:endParaRPr lang="en-US" sz="1400" dirty="0"/>
          </a:p>
        </p:txBody>
      </p:sp>
      <p:sp>
        <p:nvSpPr>
          <p:cNvPr id="29" name="Text 27"/>
          <p:cNvSpPr txBox="1"/>
          <p:nvPr/>
        </p:nvSpPr>
        <p:spPr>
          <a:xfrm>
            <a:off x="1920240" y="4471416"/>
            <a:ext cx="7772400" cy="420624"/>
          </a:xfrm>
          <a:prstGeom prst="rect">
            <a:avLst/>
          </a:prstGeom>
          <a:noFill/>
          <a:ln/>
        </p:spPr>
        <p:txBody>
          <a:bodyPr wrap="square" lIns="0" tIns="0" rIns="0" bIns="0" rtlCol="0" anchor="ctr"/>
          <a:lstStyle/>
          <a:p>
            <a:pPr marL="0" indent="0">
              <a:buNone/>
            </a:pPr>
            <a:r>
              <a:rPr lang="en-US" sz="1600" dirty="0">
                <a:solidFill>
                  <a:srgbClr val="1B2B45"/>
                </a:solidFill>
                <a:latin typeface="Calibri" pitchFamily="34" charset="0"/>
                <a:ea typeface="Calibri" pitchFamily="34" charset="-122"/>
                <a:cs typeface="Calibri" pitchFamily="34" charset="-120"/>
              </a:rPr>
              <a:t>Challenges &amp; Practical Resolutions</a:t>
            </a:r>
            <a:endParaRPr lang="en-US" sz="1600" dirty="0"/>
          </a:p>
        </p:txBody>
      </p:sp>
      <p:sp>
        <p:nvSpPr>
          <p:cNvPr id="30" name="Text 28"/>
          <p:cNvSpPr txBox="1"/>
          <p:nvPr/>
        </p:nvSpPr>
        <p:spPr>
          <a:xfrm>
            <a:off x="9784080" y="4471416"/>
            <a:ext cx="1097280" cy="420624"/>
          </a:xfrm>
          <a:prstGeom prst="rect">
            <a:avLst/>
          </a:prstGeom>
          <a:noFill/>
          <a:ln/>
        </p:spPr>
        <p:txBody>
          <a:bodyPr wrap="square" lIns="0" tIns="0" rIns="0" bIns="0" rtlCol="0" anchor="ctr"/>
          <a:lstStyle/>
          <a:p>
            <a:pPr marL="0" indent="0" algn="r">
              <a:buNone/>
            </a:pPr>
            <a:r>
              <a:rPr lang="en-US" sz="1600" b="1" dirty="0">
                <a:solidFill>
                  <a:srgbClr val="12315E"/>
                </a:solidFill>
                <a:latin typeface="Calibri" pitchFamily="34" charset="0"/>
                <a:ea typeface="Calibri" pitchFamily="34" charset="-122"/>
                <a:cs typeface="Calibri" pitchFamily="34" charset="-120"/>
              </a:rPr>
              <a:t>9</a:t>
            </a:r>
            <a:endParaRPr lang="en-US" sz="1600" dirty="0"/>
          </a:p>
        </p:txBody>
      </p:sp>
      <p:sp>
        <p:nvSpPr>
          <p:cNvPr id="31" name="Shape 29"/>
          <p:cNvSpPr/>
          <p:nvPr/>
        </p:nvSpPr>
        <p:spPr>
          <a:xfrm>
            <a:off x="1097280" y="4965192"/>
            <a:ext cx="9966960" cy="420624"/>
          </a:xfrm>
          <a:prstGeom prst="roundRect">
            <a:avLst>
              <a:gd name="adj" fmla="val 13043"/>
            </a:avLst>
          </a:prstGeom>
          <a:solidFill>
            <a:srgbClr val="FFFFFF"/>
          </a:solidFill>
          <a:ln w="12700">
            <a:solidFill>
              <a:srgbClr val="C5D9F2"/>
            </a:solidFill>
            <a:prstDash val="solid"/>
          </a:ln>
        </p:spPr>
      </p:sp>
      <p:sp>
        <p:nvSpPr>
          <p:cNvPr id="32" name="Text 30"/>
          <p:cNvSpPr txBox="1"/>
          <p:nvPr/>
        </p:nvSpPr>
        <p:spPr>
          <a:xfrm>
            <a:off x="1234440" y="4965192"/>
            <a:ext cx="548640" cy="420624"/>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08</a:t>
            </a:r>
            <a:endParaRPr lang="en-US" sz="1400" dirty="0"/>
          </a:p>
        </p:txBody>
      </p:sp>
      <p:sp>
        <p:nvSpPr>
          <p:cNvPr id="33" name="Text 31"/>
          <p:cNvSpPr txBox="1"/>
          <p:nvPr/>
        </p:nvSpPr>
        <p:spPr>
          <a:xfrm>
            <a:off x="1920240" y="4965192"/>
            <a:ext cx="7772400" cy="420624"/>
          </a:xfrm>
          <a:prstGeom prst="rect">
            <a:avLst/>
          </a:prstGeom>
          <a:noFill/>
          <a:ln/>
        </p:spPr>
        <p:txBody>
          <a:bodyPr wrap="square" lIns="0" tIns="0" rIns="0" bIns="0" rtlCol="0" anchor="ctr"/>
          <a:lstStyle/>
          <a:p>
            <a:pPr marL="0" indent="0">
              <a:buNone/>
            </a:pPr>
            <a:r>
              <a:rPr lang="en-US" sz="1600" dirty="0">
                <a:solidFill>
                  <a:srgbClr val="1B2B45"/>
                </a:solidFill>
                <a:latin typeface="Calibri" pitchFamily="34" charset="0"/>
                <a:ea typeface="Calibri" pitchFamily="34" charset="-122"/>
                <a:cs typeface="Calibri" pitchFamily="34" charset="-120"/>
              </a:rPr>
              <a:t>Acknowledgements</a:t>
            </a:r>
            <a:endParaRPr lang="en-US" sz="1600" dirty="0"/>
          </a:p>
        </p:txBody>
      </p:sp>
      <p:sp>
        <p:nvSpPr>
          <p:cNvPr id="34" name="Text 32"/>
          <p:cNvSpPr txBox="1"/>
          <p:nvPr/>
        </p:nvSpPr>
        <p:spPr>
          <a:xfrm>
            <a:off x="9784080" y="4965192"/>
            <a:ext cx="1097280" cy="420624"/>
          </a:xfrm>
          <a:prstGeom prst="rect">
            <a:avLst/>
          </a:prstGeom>
          <a:noFill/>
          <a:ln/>
        </p:spPr>
        <p:txBody>
          <a:bodyPr wrap="square" lIns="0" tIns="0" rIns="0" bIns="0" rtlCol="0" anchor="ctr"/>
          <a:lstStyle/>
          <a:p>
            <a:pPr marL="0" indent="0" algn="r">
              <a:buNone/>
            </a:pPr>
            <a:r>
              <a:rPr lang="en-US" sz="1600" b="1" dirty="0">
                <a:solidFill>
                  <a:srgbClr val="12315E"/>
                </a:solidFill>
                <a:latin typeface="Calibri" pitchFamily="34" charset="0"/>
                <a:ea typeface="Calibri" pitchFamily="34" charset="-122"/>
                <a:cs typeface="Calibri" pitchFamily="34" charset="-120"/>
              </a:rPr>
              <a:t>10</a:t>
            </a:r>
            <a:endParaRPr lang="en-US" sz="1600" dirty="0"/>
          </a:p>
        </p:txBody>
      </p:sp>
      <p:sp>
        <p:nvSpPr>
          <p:cNvPr id="35" name="Shape 33"/>
          <p:cNvSpPr/>
          <p:nvPr/>
        </p:nvSpPr>
        <p:spPr>
          <a:xfrm>
            <a:off x="1097280" y="5458968"/>
            <a:ext cx="9966960" cy="420624"/>
          </a:xfrm>
          <a:prstGeom prst="roundRect">
            <a:avLst>
              <a:gd name="adj" fmla="val 13043"/>
            </a:avLst>
          </a:prstGeom>
          <a:solidFill>
            <a:srgbClr val="EAF2FC"/>
          </a:solidFill>
          <a:ln w="12700">
            <a:solidFill>
              <a:srgbClr val="C5D9F2"/>
            </a:solidFill>
            <a:prstDash val="solid"/>
          </a:ln>
        </p:spPr>
      </p:sp>
      <p:sp>
        <p:nvSpPr>
          <p:cNvPr id="36" name="Text 34"/>
          <p:cNvSpPr txBox="1"/>
          <p:nvPr/>
        </p:nvSpPr>
        <p:spPr>
          <a:xfrm>
            <a:off x="1234440" y="5458968"/>
            <a:ext cx="548640" cy="420624"/>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09</a:t>
            </a:r>
            <a:endParaRPr lang="en-US" sz="1400" dirty="0"/>
          </a:p>
        </p:txBody>
      </p:sp>
      <p:sp>
        <p:nvSpPr>
          <p:cNvPr id="37" name="Text 35"/>
          <p:cNvSpPr txBox="1"/>
          <p:nvPr/>
        </p:nvSpPr>
        <p:spPr>
          <a:xfrm>
            <a:off x="1920240" y="5458968"/>
            <a:ext cx="7772400" cy="420624"/>
          </a:xfrm>
          <a:prstGeom prst="rect">
            <a:avLst/>
          </a:prstGeom>
          <a:noFill/>
          <a:ln/>
        </p:spPr>
        <p:txBody>
          <a:bodyPr wrap="square" lIns="0" tIns="0" rIns="0" bIns="0" rtlCol="0" anchor="ctr"/>
          <a:lstStyle/>
          <a:p>
            <a:pPr marL="0" indent="0">
              <a:buNone/>
            </a:pPr>
            <a:r>
              <a:rPr lang="en-US" sz="1600" dirty="0">
                <a:solidFill>
                  <a:srgbClr val="1B2B45"/>
                </a:solidFill>
                <a:latin typeface="Calibri" pitchFamily="34" charset="0"/>
                <a:ea typeface="Calibri" pitchFamily="34" charset="-122"/>
                <a:cs typeface="Calibri" pitchFamily="34" charset="-120"/>
              </a:rPr>
              <a:t>Thank You / Questions &amp; Discussion</a:t>
            </a:r>
            <a:endParaRPr lang="en-US" sz="1600" dirty="0"/>
          </a:p>
        </p:txBody>
      </p:sp>
      <p:sp>
        <p:nvSpPr>
          <p:cNvPr id="38" name="Text 36"/>
          <p:cNvSpPr txBox="1"/>
          <p:nvPr/>
        </p:nvSpPr>
        <p:spPr>
          <a:xfrm>
            <a:off x="9784080" y="5458968"/>
            <a:ext cx="1097280" cy="420624"/>
          </a:xfrm>
          <a:prstGeom prst="rect">
            <a:avLst/>
          </a:prstGeom>
          <a:noFill/>
          <a:ln/>
        </p:spPr>
        <p:txBody>
          <a:bodyPr wrap="square" lIns="0" tIns="0" rIns="0" bIns="0" rtlCol="0" anchor="ctr"/>
          <a:lstStyle/>
          <a:p>
            <a:pPr marL="0" indent="0" algn="r">
              <a:buNone/>
            </a:pPr>
            <a:r>
              <a:rPr lang="en-US" sz="1600" b="1" dirty="0">
                <a:solidFill>
                  <a:srgbClr val="12315E"/>
                </a:solidFill>
                <a:latin typeface="Calibri" pitchFamily="34" charset="0"/>
                <a:ea typeface="Calibri" pitchFamily="34" charset="-122"/>
                <a:cs typeface="Calibri" pitchFamily="34" charset="-120"/>
              </a:rPr>
              <a:t>11</a:t>
            </a:r>
            <a:endParaRPr lang="en-US" sz="1600" dirty="0"/>
          </a:p>
        </p:txBody>
      </p:sp>
      <p:sp>
        <p:nvSpPr>
          <p:cNvPr id="39" name="Text 37"/>
          <p:cNvSpPr txBox="1"/>
          <p:nvPr/>
        </p:nvSpPr>
        <p:spPr>
          <a:xfrm>
            <a:off x="457200" y="6446520"/>
            <a:ext cx="6400800" cy="256032"/>
          </a:xfrm>
          <a:prstGeom prst="rect">
            <a:avLst/>
          </a:prstGeom>
          <a:noFill/>
          <a:ln/>
        </p:spPr>
        <p:txBody>
          <a:bodyPr wrap="square" lIns="0" tIns="0" rIns="0" bIns="0" rtlCol="0" anchor="ctr"/>
          <a:lstStyle/>
          <a:p>
            <a:pPr marL="0" indent="0">
              <a:buNone/>
            </a:pPr>
            <a:r>
              <a:rPr lang="en-US" sz="900" b="1" dirty="0">
                <a:solidFill>
                  <a:srgbClr val="5B6B80"/>
                </a:solidFill>
                <a:latin typeface="Calibri" pitchFamily="34" charset="0"/>
                <a:ea typeface="Calibri" pitchFamily="34" charset="-122"/>
                <a:cs typeface="Calibri" pitchFamily="34" charset="-120"/>
              </a:rPr>
              <a:t>INFOSYS SPRINGBOARD VIRTUAL INTERNSHIP 7.0</a:t>
            </a:r>
            <a:endParaRPr lang="en-US" sz="900" dirty="0"/>
          </a:p>
        </p:txBody>
      </p:sp>
      <p:sp>
        <p:nvSpPr>
          <p:cNvPr id="40" name="Text 38"/>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PARI PATEL  •  BATCH 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566928"/>
            <a:ext cx="9509760" cy="640080"/>
          </a:xfrm>
          <a:prstGeom prst="rect">
            <a:avLst/>
          </a:prstGeom>
          <a:noFill/>
          <a:ln/>
        </p:spPr>
        <p:txBody>
          <a:bodyPr wrap="square" lIns="0" tIns="0" rIns="0" bIns="0" rtlCol="0" anchor="ctr"/>
          <a:lstStyle/>
          <a:p>
            <a:pPr marL="0" indent="0">
              <a:buNone/>
            </a:pPr>
            <a:r>
              <a:rPr lang="en-US" sz="3200" b="1" dirty="0">
                <a:solidFill>
                  <a:srgbClr val="12315E"/>
                </a:solidFill>
                <a:latin typeface="Calibri" pitchFamily="34" charset="0"/>
                <a:ea typeface="Calibri" pitchFamily="34" charset="-122"/>
                <a:cs typeface="Calibri" pitchFamily="34" charset="-120"/>
              </a:rPr>
              <a:t>Project Objective / Description</a:t>
            </a:r>
            <a:endParaRPr lang="en-US" sz="3200" dirty="0"/>
          </a:p>
        </p:txBody>
      </p:sp>
      <p:sp>
        <p:nvSpPr>
          <p:cNvPr id="3" name="Shape 1"/>
          <p:cNvSpPr/>
          <p:nvPr/>
        </p:nvSpPr>
        <p:spPr>
          <a:xfrm>
            <a:off x="457200" y="1463040"/>
            <a:ext cx="6949440" cy="4480560"/>
          </a:xfrm>
          <a:prstGeom prst="roundRect">
            <a:avLst>
              <a:gd name="adj" fmla="val 1224"/>
            </a:avLst>
          </a:prstGeom>
          <a:solidFill>
            <a:srgbClr val="EAF2FC"/>
          </a:solidFill>
          <a:ln w="12700">
            <a:solidFill>
              <a:srgbClr val="C5D9F2"/>
            </a:solidFill>
            <a:prstDash val="solid"/>
          </a:ln>
        </p:spPr>
      </p:sp>
      <p:sp>
        <p:nvSpPr>
          <p:cNvPr id="4" name="Text 2"/>
          <p:cNvSpPr txBox="1"/>
          <p:nvPr/>
        </p:nvSpPr>
        <p:spPr>
          <a:xfrm>
            <a:off x="731520" y="1645920"/>
            <a:ext cx="6400800" cy="4114800"/>
          </a:xfrm>
          <a:prstGeom prst="rect">
            <a:avLst/>
          </a:prstGeom>
          <a:noFill/>
          <a:ln/>
        </p:spPr>
        <p:txBody>
          <a:bodyPr wrap="square" lIns="0" tIns="0" rIns="0" bIns="0" rtlCol="0" anchor="ctr"/>
          <a:lstStyle/>
          <a:p>
            <a:pPr marL="0" indent="0">
              <a:lnSpc>
                <a:spcPct val="110000"/>
              </a:lnSpc>
              <a:buNone/>
            </a:pPr>
            <a:r>
              <a:rPr lang="en-US" sz="1600" dirty="0">
                <a:solidFill>
                  <a:srgbClr val="1B2B45"/>
                </a:solidFill>
                <a:latin typeface="Calibri" pitchFamily="34" charset="0"/>
                <a:ea typeface="Calibri" pitchFamily="34" charset="-122"/>
                <a:cs typeface="Calibri" pitchFamily="34" charset="-120"/>
              </a:rPr>
              <a:t>The </a:t>
            </a:r>
            <a:r>
              <a:rPr lang="en-US" sz="1600" b="1" dirty="0">
                <a:solidFill>
                  <a:srgbClr val="1B2B45"/>
                </a:solidFill>
                <a:latin typeface="Calibri" pitchFamily="34" charset="0"/>
                <a:ea typeface="Calibri" pitchFamily="34" charset="-122"/>
                <a:cs typeface="Calibri" pitchFamily="34" charset="-120"/>
              </a:rPr>
              <a:t>Cyber Threat Analytics Platform with Incident Visualization System</a:t>
            </a:r>
            <a:r>
              <a:rPr lang="en-US" sz="1600" dirty="0">
                <a:solidFill>
                  <a:srgbClr val="1B2B45"/>
                </a:solidFill>
                <a:latin typeface="Calibri" pitchFamily="34" charset="0"/>
                <a:ea typeface="Calibri" pitchFamily="34" charset="-122"/>
                <a:cs typeface="Calibri" pitchFamily="34" charset="-120"/>
              </a:rPr>
              <a:t> aims to analyse cybersecurity incident data to identify attack patterns, evaluate detection and response efficiency, and understand the financial impact of cyberattacks. Using data preprocessing and interactive Power BI dashboards, the platform will transform raw records into meaningful visual insights, helping security teams monitor incidents, identify trends, and make informed decisions. </a:t>
            </a:r>
            <a:endParaRPr lang="en-US" sz="1600" dirty="0"/>
          </a:p>
        </p:txBody>
      </p:sp>
      <p:sp>
        <p:nvSpPr>
          <p:cNvPr id="5" name="Shape 3"/>
          <p:cNvSpPr/>
          <p:nvPr/>
        </p:nvSpPr>
        <p:spPr>
          <a:xfrm>
            <a:off x="7863840" y="1463040"/>
            <a:ext cx="3886200" cy="1371600"/>
          </a:xfrm>
          <a:prstGeom prst="roundRect">
            <a:avLst>
              <a:gd name="adj" fmla="val 4000"/>
            </a:avLst>
          </a:prstGeom>
          <a:solidFill>
            <a:srgbClr val="FFFFFF"/>
          </a:solidFill>
          <a:ln w="12700">
            <a:solidFill>
              <a:srgbClr val="C5D9F2"/>
            </a:solidFill>
            <a:prstDash val="solid"/>
          </a:ln>
        </p:spPr>
      </p:sp>
      <p:sp>
        <p:nvSpPr>
          <p:cNvPr id="6" name="Shape 4"/>
          <p:cNvSpPr/>
          <p:nvPr/>
        </p:nvSpPr>
        <p:spPr>
          <a:xfrm>
            <a:off x="8138160" y="1920240"/>
            <a:ext cx="457200" cy="457200"/>
          </a:xfrm>
          <a:prstGeom prst="ellipse">
            <a:avLst/>
          </a:prstGeom>
          <a:solidFill>
            <a:srgbClr val="1F5FBF"/>
          </a:solidFill>
          <a:ln w="12700">
            <a:solidFill>
              <a:srgbClr val="1F5FBF"/>
            </a:solidFill>
            <a:prstDash val="solid"/>
          </a:ln>
        </p:spPr>
      </p:sp>
      <p:sp>
        <p:nvSpPr>
          <p:cNvPr id="7" name="Text 5"/>
          <p:cNvSpPr txBox="1"/>
          <p:nvPr/>
        </p:nvSpPr>
        <p:spPr>
          <a:xfrm>
            <a:off x="8138160" y="19202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txBox="1"/>
          <p:nvPr/>
        </p:nvSpPr>
        <p:spPr>
          <a:xfrm>
            <a:off x="8823960" y="1463040"/>
            <a:ext cx="2834640" cy="1371600"/>
          </a:xfrm>
          <a:prstGeom prst="rect">
            <a:avLst/>
          </a:prstGeom>
          <a:noFill/>
          <a:ln/>
        </p:spPr>
        <p:txBody>
          <a:bodyPr wrap="square" lIns="0" tIns="0" rIns="0" bIns="0" rtlCol="0" anchor="ctr"/>
          <a:lstStyle/>
          <a:p>
            <a:pPr marL="0" indent="0">
              <a:buNone/>
            </a:pPr>
            <a:r>
              <a:rPr lang="en-US" sz="1800" b="1" dirty="0">
                <a:solidFill>
                  <a:srgbClr val="12315E"/>
                </a:solidFill>
                <a:latin typeface="Calibri" pitchFamily="34" charset="0"/>
                <a:ea typeface="Calibri" pitchFamily="34" charset="-122"/>
                <a:cs typeface="Calibri" pitchFamily="34" charset="-120"/>
              </a:rPr>
              <a:t>Make it trustworthy</a:t>
            </a:r>
            <a:endParaRPr lang="en-US" sz="1800" dirty="0"/>
          </a:p>
        </p:txBody>
      </p:sp>
      <p:sp>
        <p:nvSpPr>
          <p:cNvPr id="9" name="Shape 7"/>
          <p:cNvSpPr/>
          <p:nvPr/>
        </p:nvSpPr>
        <p:spPr>
          <a:xfrm>
            <a:off x="7863840" y="3017520"/>
            <a:ext cx="3886200" cy="1371600"/>
          </a:xfrm>
          <a:prstGeom prst="roundRect">
            <a:avLst>
              <a:gd name="adj" fmla="val 4000"/>
            </a:avLst>
          </a:prstGeom>
          <a:solidFill>
            <a:srgbClr val="FFFFFF"/>
          </a:solidFill>
          <a:ln w="12700">
            <a:solidFill>
              <a:srgbClr val="C5D9F2"/>
            </a:solidFill>
            <a:prstDash val="solid"/>
          </a:ln>
        </p:spPr>
      </p:sp>
      <p:sp>
        <p:nvSpPr>
          <p:cNvPr id="10" name="Shape 8"/>
          <p:cNvSpPr/>
          <p:nvPr/>
        </p:nvSpPr>
        <p:spPr>
          <a:xfrm>
            <a:off x="8138160" y="3474720"/>
            <a:ext cx="457200" cy="457200"/>
          </a:xfrm>
          <a:prstGeom prst="ellipse">
            <a:avLst/>
          </a:prstGeom>
          <a:solidFill>
            <a:srgbClr val="1F5FBF"/>
          </a:solidFill>
          <a:ln w="12700">
            <a:solidFill>
              <a:srgbClr val="1F5FBF"/>
            </a:solidFill>
            <a:prstDash val="solid"/>
          </a:ln>
        </p:spPr>
      </p:sp>
      <p:sp>
        <p:nvSpPr>
          <p:cNvPr id="11" name="Text 9"/>
          <p:cNvSpPr txBox="1"/>
          <p:nvPr/>
        </p:nvSpPr>
        <p:spPr>
          <a:xfrm>
            <a:off x="8138160" y="34747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txBox="1"/>
          <p:nvPr/>
        </p:nvSpPr>
        <p:spPr>
          <a:xfrm>
            <a:off x="8823960" y="3017520"/>
            <a:ext cx="2834640" cy="1371600"/>
          </a:xfrm>
          <a:prstGeom prst="rect">
            <a:avLst/>
          </a:prstGeom>
          <a:noFill/>
          <a:ln/>
        </p:spPr>
        <p:txBody>
          <a:bodyPr wrap="square" lIns="0" tIns="0" rIns="0" bIns="0" rtlCol="0" anchor="ctr"/>
          <a:lstStyle/>
          <a:p>
            <a:pPr marL="0" indent="0">
              <a:buNone/>
            </a:pPr>
            <a:r>
              <a:rPr lang="en-US" sz="1800" b="1" dirty="0">
                <a:solidFill>
                  <a:srgbClr val="12315E"/>
                </a:solidFill>
                <a:latin typeface="Calibri" pitchFamily="34" charset="0"/>
                <a:ea typeface="Calibri" pitchFamily="34" charset="-122"/>
                <a:cs typeface="Calibri" pitchFamily="34" charset="-120"/>
              </a:rPr>
              <a:t>Make it usable</a:t>
            </a:r>
            <a:endParaRPr lang="en-US" sz="1800" dirty="0"/>
          </a:p>
        </p:txBody>
      </p:sp>
      <p:sp>
        <p:nvSpPr>
          <p:cNvPr id="13" name="Shape 11"/>
          <p:cNvSpPr/>
          <p:nvPr/>
        </p:nvSpPr>
        <p:spPr>
          <a:xfrm>
            <a:off x="7863840" y="4572000"/>
            <a:ext cx="3886200" cy="1371600"/>
          </a:xfrm>
          <a:prstGeom prst="roundRect">
            <a:avLst>
              <a:gd name="adj" fmla="val 4000"/>
            </a:avLst>
          </a:prstGeom>
          <a:solidFill>
            <a:srgbClr val="FFFFFF"/>
          </a:solidFill>
          <a:ln w="12700">
            <a:solidFill>
              <a:srgbClr val="C5D9F2"/>
            </a:solidFill>
            <a:prstDash val="solid"/>
          </a:ln>
        </p:spPr>
      </p:sp>
      <p:sp>
        <p:nvSpPr>
          <p:cNvPr id="14" name="Shape 12"/>
          <p:cNvSpPr/>
          <p:nvPr/>
        </p:nvSpPr>
        <p:spPr>
          <a:xfrm>
            <a:off x="8138160" y="5029200"/>
            <a:ext cx="457200" cy="457200"/>
          </a:xfrm>
          <a:prstGeom prst="ellipse">
            <a:avLst/>
          </a:prstGeom>
          <a:solidFill>
            <a:srgbClr val="1F5FBF"/>
          </a:solidFill>
          <a:ln w="12700">
            <a:solidFill>
              <a:srgbClr val="1F5FBF"/>
            </a:solidFill>
            <a:prstDash val="solid"/>
          </a:ln>
        </p:spPr>
      </p:sp>
      <p:sp>
        <p:nvSpPr>
          <p:cNvPr id="15" name="Text 13"/>
          <p:cNvSpPr txBox="1"/>
          <p:nvPr/>
        </p:nvSpPr>
        <p:spPr>
          <a:xfrm>
            <a:off x="8138160" y="50292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6" name="Text 14"/>
          <p:cNvSpPr txBox="1"/>
          <p:nvPr/>
        </p:nvSpPr>
        <p:spPr>
          <a:xfrm>
            <a:off x="8823960" y="4572000"/>
            <a:ext cx="2834640" cy="1371600"/>
          </a:xfrm>
          <a:prstGeom prst="rect">
            <a:avLst/>
          </a:prstGeom>
          <a:noFill/>
          <a:ln/>
        </p:spPr>
        <p:txBody>
          <a:bodyPr wrap="square" lIns="0" tIns="0" rIns="0" bIns="0" rtlCol="0" anchor="ctr"/>
          <a:lstStyle/>
          <a:p>
            <a:pPr marL="0" indent="0">
              <a:buNone/>
            </a:pPr>
            <a:r>
              <a:rPr lang="en-US" sz="1800" b="1" dirty="0">
                <a:solidFill>
                  <a:srgbClr val="12315E"/>
                </a:solidFill>
                <a:latin typeface="Calibri" pitchFamily="34" charset="0"/>
                <a:ea typeface="Calibri" pitchFamily="34" charset="-122"/>
                <a:cs typeface="Calibri" pitchFamily="34" charset="-120"/>
              </a:rPr>
              <a:t>Make it interpretable</a:t>
            </a:r>
            <a:endParaRPr lang="en-US" sz="1800" dirty="0"/>
          </a:p>
        </p:txBody>
      </p:sp>
      <p:sp>
        <p:nvSpPr>
          <p:cNvPr id="17" name="Text 15"/>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PARI PATEL  •  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566928"/>
            <a:ext cx="9509760" cy="640080"/>
          </a:xfrm>
          <a:prstGeom prst="rect">
            <a:avLst/>
          </a:prstGeom>
          <a:noFill/>
          <a:ln/>
        </p:spPr>
        <p:txBody>
          <a:bodyPr wrap="square" lIns="0" tIns="0" rIns="0" bIns="0" rtlCol="0" anchor="ctr"/>
          <a:lstStyle/>
          <a:p>
            <a:pPr marL="0" indent="0">
              <a:buNone/>
            </a:pPr>
            <a:r>
              <a:rPr lang="en-US" sz="3200" b="1" dirty="0">
                <a:solidFill>
                  <a:srgbClr val="12315E"/>
                </a:solidFill>
                <a:latin typeface="Calibri" pitchFamily="34" charset="0"/>
                <a:ea typeface="Calibri" pitchFamily="34" charset="-122"/>
                <a:cs typeface="Calibri" pitchFamily="34" charset="-120"/>
              </a:rPr>
              <a:t>Power BI Workflow Diagram</a:t>
            </a:r>
            <a:endParaRPr lang="en-US" sz="3200" dirty="0"/>
          </a:p>
        </p:txBody>
      </p:sp>
      <p:sp>
        <p:nvSpPr>
          <p:cNvPr id="3" name="Text 1"/>
          <p:cNvSpPr txBox="1"/>
          <p:nvPr/>
        </p:nvSpPr>
        <p:spPr>
          <a:xfrm>
            <a:off x="457200" y="1188720"/>
            <a:ext cx="9144000" cy="274320"/>
          </a:xfrm>
          <a:prstGeom prst="rect">
            <a:avLst/>
          </a:prstGeom>
          <a:noFill/>
          <a:ln/>
        </p:spPr>
        <p:txBody>
          <a:bodyPr wrap="square" lIns="0" tIns="0" rIns="0" bIns="0" rtlCol="0" anchor="ctr"/>
          <a:lstStyle/>
          <a:p>
            <a:pPr marL="0" indent="0">
              <a:buNone/>
            </a:pPr>
            <a:r>
              <a:rPr lang="en-US" sz="1300" dirty="0">
                <a:solidFill>
                  <a:srgbClr val="5B6B80"/>
                </a:solidFill>
                <a:latin typeface="Calibri" pitchFamily="34" charset="0"/>
                <a:ea typeface="Calibri" pitchFamily="34" charset="-122"/>
                <a:cs typeface="Calibri" pitchFamily="34" charset="-120"/>
              </a:rPr>
              <a:t>Cyber Threat Analytics Platform with Incident Visualization System</a:t>
            </a:r>
            <a:endParaRPr lang="en-US" sz="1300" dirty="0"/>
          </a:p>
        </p:txBody>
      </p:sp>
      <p:sp>
        <p:nvSpPr>
          <p:cNvPr id="4" name="Shape 2"/>
          <p:cNvSpPr/>
          <p:nvPr/>
        </p:nvSpPr>
        <p:spPr>
          <a:xfrm>
            <a:off x="914400" y="1600200"/>
            <a:ext cx="3291840" cy="420624"/>
          </a:xfrm>
          <a:prstGeom prst="roundRect">
            <a:avLst>
              <a:gd name="adj" fmla="val 13043"/>
            </a:avLst>
          </a:prstGeom>
          <a:solidFill>
            <a:srgbClr val="1F5FBF"/>
          </a:solidFill>
          <a:ln w="12700">
            <a:solidFill>
              <a:srgbClr val="1F5FBF"/>
            </a:solidFill>
            <a:prstDash val="solid"/>
          </a:ln>
        </p:spPr>
      </p:sp>
      <p:sp>
        <p:nvSpPr>
          <p:cNvPr id="5" name="Text 3"/>
          <p:cNvSpPr txBox="1"/>
          <p:nvPr/>
        </p:nvSpPr>
        <p:spPr>
          <a:xfrm>
            <a:off x="1005840" y="1600200"/>
            <a:ext cx="310896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Problem Understanding</a:t>
            </a:r>
            <a:endParaRPr lang="en-US" sz="1300" dirty="0"/>
          </a:p>
        </p:txBody>
      </p:sp>
      <p:sp>
        <p:nvSpPr>
          <p:cNvPr id="6" name="Shape 4"/>
          <p:cNvSpPr/>
          <p:nvPr/>
        </p:nvSpPr>
        <p:spPr>
          <a:xfrm>
            <a:off x="4389120" y="1600200"/>
            <a:ext cx="6903720" cy="420624"/>
          </a:xfrm>
          <a:prstGeom prst="roundRect">
            <a:avLst>
              <a:gd name="adj" fmla="val 13043"/>
            </a:avLst>
          </a:prstGeom>
          <a:solidFill>
            <a:srgbClr val="EAF2FC"/>
          </a:solidFill>
          <a:ln w="12700">
            <a:solidFill>
              <a:srgbClr val="C5D9F2"/>
            </a:solidFill>
            <a:prstDash val="solid"/>
          </a:ln>
        </p:spPr>
      </p:sp>
      <p:sp>
        <p:nvSpPr>
          <p:cNvPr id="7" name="Text 5"/>
          <p:cNvSpPr txBox="1"/>
          <p:nvPr/>
        </p:nvSpPr>
        <p:spPr>
          <a:xfrm>
            <a:off x="4526280" y="1600200"/>
            <a:ext cx="6675120" cy="420624"/>
          </a:xfrm>
          <a:prstGeom prst="rect">
            <a:avLst/>
          </a:prstGeom>
          <a:noFill/>
          <a:ln/>
        </p:spPr>
        <p:txBody>
          <a:bodyPr wrap="square" lIns="0" tIns="0" rIns="0" bIns="0" rtlCol="0" anchor="ctr"/>
          <a:lstStyle/>
          <a:p>
            <a:pPr marL="0" indent="0">
              <a:buNone/>
            </a:pPr>
            <a:r>
              <a:rPr lang="en-US" sz="1200" dirty="0">
                <a:solidFill>
                  <a:srgbClr val="1B2B45"/>
                </a:solidFill>
                <a:latin typeface="Calibri" pitchFamily="34" charset="0"/>
                <a:ea typeface="Calibri" pitchFamily="34" charset="-122"/>
                <a:cs typeface="Calibri" pitchFamily="34" charset="-120"/>
              </a:rPr>
              <a:t>Define the project goal, key cybersecurity questions, and expected analytical outcomes.</a:t>
            </a:r>
            <a:endParaRPr lang="en-US" sz="1200" dirty="0"/>
          </a:p>
        </p:txBody>
      </p:sp>
      <p:sp>
        <p:nvSpPr>
          <p:cNvPr id="8" name="Shape 6"/>
          <p:cNvSpPr/>
          <p:nvPr/>
        </p:nvSpPr>
        <p:spPr>
          <a:xfrm>
            <a:off x="2468880" y="2034540"/>
            <a:ext cx="182880" cy="128016"/>
          </a:xfrm>
          <a:prstGeom prst="downArrow">
            <a:avLst/>
          </a:prstGeom>
          <a:solidFill>
            <a:srgbClr val="1F5FBF"/>
          </a:solidFill>
          <a:ln w="12700">
            <a:solidFill>
              <a:srgbClr val="1F5FBF"/>
            </a:solidFill>
            <a:prstDash val="solid"/>
          </a:ln>
        </p:spPr>
      </p:sp>
      <p:sp>
        <p:nvSpPr>
          <p:cNvPr id="9" name="Shape 7"/>
          <p:cNvSpPr/>
          <p:nvPr/>
        </p:nvSpPr>
        <p:spPr>
          <a:xfrm>
            <a:off x="914400" y="2176272"/>
            <a:ext cx="3291840" cy="420624"/>
          </a:xfrm>
          <a:prstGeom prst="roundRect">
            <a:avLst>
              <a:gd name="adj" fmla="val 13043"/>
            </a:avLst>
          </a:prstGeom>
          <a:solidFill>
            <a:srgbClr val="1F5FBF"/>
          </a:solidFill>
          <a:ln w="12700">
            <a:solidFill>
              <a:srgbClr val="1F5FBF"/>
            </a:solidFill>
            <a:prstDash val="solid"/>
          </a:ln>
        </p:spPr>
      </p:sp>
      <p:sp>
        <p:nvSpPr>
          <p:cNvPr id="10" name="Text 8"/>
          <p:cNvSpPr txBox="1"/>
          <p:nvPr/>
        </p:nvSpPr>
        <p:spPr>
          <a:xfrm>
            <a:off x="1005840" y="2176272"/>
            <a:ext cx="310896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Collection &amp; Understanding</a:t>
            </a:r>
            <a:endParaRPr lang="en-US" sz="1300" dirty="0"/>
          </a:p>
        </p:txBody>
      </p:sp>
      <p:sp>
        <p:nvSpPr>
          <p:cNvPr id="11" name="Shape 9"/>
          <p:cNvSpPr/>
          <p:nvPr/>
        </p:nvSpPr>
        <p:spPr>
          <a:xfrm>
            <a:off x="4389120" y="2176272"/>
            <a:ext cx="6903720" cy="420624"/>
          </a:xfrm>
          <a:prstGeom prst="roundRect">
            <a:avLst>
              <a:gd name="adj" fmla="val 13043"/>
            </a:avLst>
          </a:prstGeom>
          <a:solidFill>
            <a:srgbClr val="EAF2FC"/>
          </a:solidFill>
          <a:ln w="12700">
            <a:solidFill>
              <a:srgbClr val="C5D9F2"/>
            </a:solidFill>
            <a:prstDash val="solid"/>
          </a:ln>
        </p:spPr>
      </p:sp>
      <p:sp>
        <p:nvSpPr>
          <p:cNvPr id="12" name="Text 10"/>
          <p:cNvSpPr txBox="1"/>
          <p:nvPr/>
        </p:nvSpPr>
        <p:spPr>
          <a:xfrm>
            <a:off x="4526280" y="2176272"/>
            <a:ext cx="6675120" cy="420624"/>
          </a:xfrm>
          <a:prstGeom prst="rect">
            <a:avLst/>
          </a:prstGeom>
          <a:noFill/>
          <a:ln/>
        </p:spPr>
        <p:txBody>
          <a:bodyPr wrap="square" lIns="0" tIns="0" rIns="0" bIns="0" rtlCol="0" anchor="ctr"/>
          <a:lstStyle/>
          <a:p>
            <a:pPr marL="0" indent="0">
              <a:buNone/>
            </a:pPr>
            <a:r>
              <a:rPr lang="en-US" sz="1200" dirty="0">
                <a:solidFill>
                  <a:srgbClr val="1B2B45"/>
                </a:solidFill>
                <a:latin typeface="Calibri" pitchFamily="34" charset="0"/>
                <a:ea typeface="Calibri" pitchFamily="34" charset="-122"/>
                <a:cs typeface="Calibri" pitchFamily="34" charset="-120"/>
              </a:rPr>
              <a:t>Collect and inspect the Enterprise Cyber Kill Chain dataset, including its structure, fields, and data quality.</a:t>
            </a:r>
            <a:endParaRPr lang="en-US" sz="1200" dirty="0"/>
          </a:p>
        </p:txBody>
      </p:sp>
      <p:sp>
        <p:nvSpPr>
          <p:cNvPr id="13" name="Shape 11"/>
          <p:cNvSpPr/>
          <p:nvPr/>
        </p:nvSpPr>
        <p:spPr>
          <a:xfrm>
            <a:off x="2468880" y="2610612"/>
            <a:ext cx="182880" cy="128016"/>
          </a:xfrm>
          <a:prstGeom prst="downArrow">
            <a:avLst/>
          </a:prstGeom>
          <a:solidFill>
            <a:srgbClr val="1F5FBF"/>
          </a:solidFill>
          <a:ln w="12700">
            <a:solidFill>
              <a:srgbClr val="1F5FBF"/>
            </a:solidFill>
            <a:prstDash val="solid"/>
          </a:ln>
        </p:spPr>
      </p:sp>
      <p:sp>
        <p:nvSpPr>
          <p:cNvPr id="14" name="Shape 12"/>
          <p:cNvSpPr/>
          <p:nvPr/>
        </p:nvSpPr>
        <p:spPr>
          <a:xfrm>
            <a:off x="914400" y="2752344"/>
            <a:ext cx="3291840" cy="420624"/>
          </a:xfrm>
          <a:prstGeom prst="roundRect">
            <a:avLst>
              <a:gd name="adj" fmla="val 13043"/>
            </a:avLst>
          </a:prstGeom>
          <a:solidFill>
            <a:srgbClr val="1F5FBF"/>
          </a:solidFill>
          <a:ln w="12700">
            <a:solidFill>
              <a:srgbClr val="1F5FBF"/>
            </a:solidFill>
            <a:prstDash val="solid"/>
          </a:ln>
        </p:spPr>
      </p:sp>
      <p:sp>
        <p:nvSpPr>
          <p:cNvPr id="15" name="Text 13"/>
          <p:cNvSpPr txBox="1"/>
          <p:nvPr/>
        </p:nvSpPr>
        <p:spPr>
          <a:xfrm>
            <a:off x="1005840" y="2752344"/>
            <a:ext cx="310896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Preprocessing</a:t>
            </a:r>
            <a:endParaRPr lang="en-US" sz="1300" dirty="0"/>
          </a:p>
        </p:txBody>
      </p:sp>
      <p:sp>
        <p:nvSpPr>
          <p:cNvPr id="16" name="Shape 14"/>
          <p:cNvSpPr/>
          <p:nvPr/>
        </p:nvSpPr>
        <p:spPr>
          <a:xfrm>
            <a:off x="4389120" y="2752344"/>
            <a:ext cx="6903720" cy="420624"/>
          </a:xfrm>
          <a:prstGeom prst="roundRect">
            <a:avLst>
              <a:gd name="adj" fmla="val 13043"/>
            </a:avLst>
          </a:prstGeom>
          <a:solidFill>
            <a:srgbClr val="EAF2FC"/>
          </a:solidFill>
          <a:ln w="12700">
            <a:solidFill>
              <a:srgbClr val="C5D9F2"/>
            </a:solidFill>
            <a:prstDash val="solid"/>
          </a:ln>
        </p:spPr>
      </p:sp>
      <p:sp>
        <p:nvSpPr>
          <p:cNvPr id="17" name="Text 15"/>
          <p:cNvSpPr txBox="1"/>
          <p:nvPr/>
        </p:nvSpPr>
        <p:spPr>
          <a:xfrm>
            <a:off x="4526280" y="2752344"/>
            <a:ext cx="6675120" cy="420624"/>
          </a:xfrm>
          <a:prstGeom prst="rect">
            <a:avLst/>
          </a:prstGeom>
          <a:noFill/>
          <a:ln/>
        </p:spPr>
        <p:txBody>
          <a:bodyPr wrap="square" lIns="0" tIns="0" rIns="0" bIns="0" rtlCol="0" anchor="ctr"/>
          <a:lstStyle/>
          <a:p>
            <a:pPr marL="0" indent="0">
              <a:buNone/>
            </a:pPr>
            <a:r>
              <a:rPr lang="en-US" sz="1200" dirty="0">
                <a:solidFill>
                  <a:srgbClr val="1B2B45"/>
                </a:solidFill>
                <a:latin typeface="Calibri" pitchFamily="34" charset="0"/>
                <a:ea typeface="Calibri" pitchFamily="34" charset="-122"/>
                <a:cs typeface="Calibri" pitchFamily="34" charset="-120"/>
              </a:rPr>
              <a:t>Remove duplicates; clean text; correct data types; review missing values, categories, numerical values, outliers, and date/time fields.</a:t>
            </a:r>
            <a:endParaRPr lang="en-US" sz="1200" dirty="0"/>
          </a:p>
        </p:txBody>
      </p:sp>
      <p:sp>
        <p:nvSpPr>
          <p:cNvPr id="18" name="Shape 16"/>
          <p:cNvSpPr/>
          <p:nvPr/>
        </p:nvSpPr>
        <p:spPr>
          <a:xfrm>
            <a:off x="2468880" y="3186684"/>
            <a:ext cx="182880" cy="128016"/>
          </a:xfrm>
          <a:prstGeom prst="downArrow">
            <a:avLst/>
          </a:prstGeom>
          <a:solidFill>
            <a:srgbClr val="1F5FBF"/>
          </a:solidFill>
          <a:ln w="12700">
            <a:solidFill>
              <a:srgbClr val="1F5FBF"/>
            </a:solidFill>
            <a:prstDash val="solid"/>
          </a:ln>
        </p:spPr>
      </p:sp>
      <p:sp>
        <p:nvSpPr>
          <p:cNvPr id="19" name="Shape 17"/>
          <p:cNvSpPr/>
          <p:nvPr/>
        </p:nvSpPr>
        <p:spPr>
          <a:xfrm>
            <a:off x="914400" y="3328416"/>
            <a:ext cx="3291840" cy="420624"/>
          </a:xfrm>
          <a:prstGeom prst="roundRect">
            <a:avLst>
              <a:gd name="adj" fmla="val 13043"/>
            </a:avLst>
          </a:prstGeom>
          <a:solidFill>
            <a:srgbClr val="1F5FBF"/>
          </a:solidFill>
          <a:ln w="12700">
            <a:solidFill>
              <a:srgbClr val="1F5FBF"/>
            </a:solidFill>
            <a:prstDash val="solid"/>
          </a:ln>
        </p:spPr>
      </p:sp>
      <p:sp>
        <p:nvSpPr>
          <p:cNvPr id="20" name="Text 18"/>
          <p:cNvSpPr txBox="1"/>
          <p:nvPr/>
        </p:nvSpPr>
        <p:spPr>
          <a:xfrm>
            <a:off x="1005840" y="3328416"/>
            <a:ext cx="310896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Modeling (Model View)</a:t>
            </a:r>
            <a:endParaRPr lang="en-US" sz="1300" dirty="0"/>
          </a:p>
        </p:txBody>
      </p:sp>
      <p:sp>
        <p:nvSpPr>
          <p:cNvPr id="21" name="Shape 19"/>
          <p:cNvSpPr/>
          <p:nvPr/>
        </p:nvSpPr>
        <p:spPr>
          <a:xfrm>
            <a:off x="4389120" y="3328416"/>
            <a:ext cx="6903720" cy="420624"/>
          </a:xfrm>
          <a:prstGeom prst="roundRect">
            <a:avLst>
              <a:gd name="adj" fmla="val 13043"/>
            </a:avLst>
          </a:prstGeom>
          <a:solidFill>
            <a:srgbClr val="EAF2FC"/>
          </a:solidFill>
          <a:ln w="12700">
            <a:solidFill>
              <a:srgbClr val="C5D9F2"/>
            </a:solidFill>
            <a:prstDash val="solid"/>
          </a:ln>
        </p:spPr>
      </p:sp>
      <p:sp>
        <p:nvSpPr>
          <p:cNvPr id="22" name="Text 20"/>
          <p:cNvSpPr txBox="1"/>
          <p:nvPr/>
        </p:nvSpPr>
        <p:spPr>
          <a:xfrm>
            <a:off x="4526280" y="3328416"/>
            <a:ext cx="6675120" cy="420624"/>
          </a:xfrm>
          <a:prstGeom prst="rect">
            <a:avLst/>
          </a:prstGeom>
          <a:noFill/>
          <a:ln/>
        </p:spPr>
        <p:txBody>
          <a:bodyPr wrap="square" lIns="0" tIns="0" rIns="0" bIns="0" rtlCol="0" anchor="ctr"/>
          <a:lstStyle/>
          <a:p>
            <a:pPr marL="0" indent="0">
              <a:buNone/>
            </a:pPr>
            <a:r>
              <a:rPr lang="en-US" sz="1200" dirty="0">
                <a:solidFill>
                  <a:srgbClr val="1B2B45"/>
                </a:solidFill>
                <a:latin typeface="Calibri" pitchFamily="34" charset="0"/>
                <a:ea typeface="Calibri" pitchFamily="34" charset="-122"/>
                <a:cs typeface="Calibri" pitchFamily="34" charset="-120"/>
              </a:rPr>
              <a:t>Review the data model and relationships needed for consistent analysis.</a:t>
            </a:r>
            <a:endParaRPr lang="en-US" sz="1200" dirty="0"/>
          </a:p>
        </p:txBody>
      </p:sp>
      <p:sp>
        <p:nvSpPr>
          <p:cNvPr id="23" name="Shape 21"/>
          <p:cNvSpPr/>
          <p:nvPr/>
        </p:nvSpPr>
        <p:spPr>
          <a:xfrm>
            <a:off x="2468880" y="3762756"/>
            <a:ext cx="182880" cy="128016"/>
          </a:xfrm>
          <a:prstGeom prst="downArrow">
            <a:avLst/>
          </a:prstGeom>
          <a:solidFill>
            <a:srgbClr val="1F5FBF"/>
          </a:solidFill>
          <a:ln w="12700">
            <a:solidFill>
              <a:srgbClr val="1F5FBF"/>
            </a:solidFill>
            <a:prstDash val="solid"/>
          </a:ln>
        </p:spPr>
      </p:sp>
      <p:sp>
        <p:nvSpPr>
          <p:cNvPr id="24" name="Shape 22"/>
          <p:cNvSpPr/>
          <p:nvPr/>
        </p:nvSpPr>
        <p:spPr>
          <a:xfrm>
            <a:off x="914400" y="3904488"/>
            <a:ext cx="3291840" cy="420624"/>
          </a:xfrm>
          <a:prstGeom prst="roundRect">
            <a:avLst>
              <a:gd name="adj" fmla="val 13043"/>
            </a:avLst>
          </a:prstGeom>
          <a:solidFill>
            <a:srgbClr val="1F5FBF"/>
          </a:solidFill>
          <a:ln w="12700">
            <a:solidFill>
              <a:srgbClr val="1F5FBF"/>
            </a:solidFill>
            <a:prstDash val="solid"/>
          </a:ln>
        </p:spPr>
      </p:sp>
      <p:sp>
        <p:nvSpPr>
          <p:cNvPr id="25" name="Text 23"/>
          <p:cNvSpPr txBox="1"/>
          <p:nvPr/>
        </p:nvSpPr>
        <p:spPr>
          <a:xfrm>
            <a:off x="1005840" y="3904488"/>
            <a:ext cx="310896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DAX Calculations</a:t>
            </a:r>
            <a:endParaRPr lang="en-US" sz="1300" dirty="0"/>
          </a:p>
        </p:txBody>
      </p:sp>
      <p:sp>
        <p:nvSpPr>
          <p:cNvPr id="26" name="Shape 24"/>
          <p:cNvSpPr/>
          <p:nvPr/>
        </p:nvSpPr>
        <p:spPr>
          <a:xfrm>
            <a:off x="4389120" y="3904488"/>
            <a:ext cx="6903720" cy="420624"/>
          </a:xfrm>
          <a:prstGeom prst="roundRect">
            <a:avLst>
              <a:gd name="adj" fmla="val 13043"/>
            </a:avLst>
          </a:prstGeom>
          <a:solidFill>
            <a:srgbClr val="EAF2FC"/>
          </a:solidFill>
          <a:ln w="12700">
            <a:solidFill>
              <a:srgbClr val="C5D9F2"/>
            </a:solidFill>
            <a:prstDash val="solid"/>
          </a:ln>
        </p:spPr>
      </p:sp>
      <p:sp>
        <p:nvSpPr>
          <p:cNvPr id="27" name="Text 25"/>
          <p:cNvSpPr txBox="1"/>
          <p:nvPr/>
        </p:nvSpPr>
        <p:spPr>
          <a:xfrm>
            <a:off x="4526280" y="3904488"/>
            <a:ext cx="6675120" cy="420624"/>
          </a:xfrm>
          <a:prstGeom prst="rect">
            <a:avLst/>
          </a:prstGeom>
          <a:noFill/>
          <a:ln/>
        </p:spPr>
        <p:txBody>
          <a:bodyPr wrap="square" lIns="0" tIns="0" rIns="0" bIns="0" rtlCol="0" anchor="ctr"/>
          <a:lstStyle/>
          <a:p>
            <a:pPr marL="0" indent="0">
              <a:buNone/>
            </a:pPr>
            <a:r>
              <a:rPr lang="en-US" sz="1200" dirty="0">
                <a:solidFill>
                  <a:srgbClr val="1B2B45"/>
                </a:solidFill>
                <a:latin typeface="Calibri" pitchFamily="34" charset="0"/>
                <a:ea typeface="Calibri" pitchFamily="34" charset="-122"/>
                <a:cs typeface="Calibri" pitchFamily="34" charset="-120"/>
              </a:rPr>
              <a:t>Create required measures and calculations for meaningful metrics and KPIs.</a:t>
            </a:r>
            <a:endParaRPr lang="en-US" sz="1200" dirty="0"/>
          </a:p>
        </p:txBody>
      </p:sp>
      <p:sp>
        <p:nvSpPr>
          <p:cNvPr id="28" name="Shape 26"/>
          <p:cNvSpPr/>
          <p:nvPr/>
        </p:nvSpPr>
        <p:spPr>
          <a:xfrm>
            <a:off x="2468880" y="4338828"/>
            <a:ext cx="182880" cy="128016"/>
          </a:xfrm>
          <a:prstGeom prst="downArrow">
            <a:avLst/>
          </a:prstGeom>
          <a:solidFill>
            <a:srgbClr val="1F5FBF"/>
          </a:solidFill>
          <a:ln w="12700">
            <a:solidFill>
              <a:srgbClr val="1F5FBF"/>
            </a:solidFill>
            <a:prstDash val="solid"/>
          </a:ln>
        </p:spPr>
      </p:sp>
      <p:sp>
        <p:nvSpPr>
          <p:cNvPr id="29" name="Shape 27"/>
          <p:cNvSpPr/>
          <p:nvPr/>
        </p:nvSpPr>
        <p:spPr>
          <a:xfrm>
            <a:off x="914400" y="4480560"/>
            <a:ext cx="3291840" cy="420624"/>
          </a:xfrm>
          <a:prstGeom prst="roundRect">
            <a:avLst>
              <a:gd name="adj" fmla="val 13043"/>
            </a:avLst>
          </a:prstGeom>
          <a:solidFill>
            <a:srgbClr val="1F5FBF"/>
          </a:solidFill>
          <a:ln w="12700">
            <a:solidFill>
              <a:srgbClr val="1F5FBF"/>
            </a:solidFill>
            <a:prstDash val="solid"/>
          </a:ln>
        </p:spPr>
      </p:sp>
      <p:sp>
        <p:nvSpPr>
          <p:cNvPr id="30" name="Text 28"/>
          <p:cNvSpPr txBox="1"/>
          <p:nvPr/>
        </p:nvSpPr>
        <p:spPr>
          <a:xfrm>
            <a:off x="1005840" y="4480560"/>
            <a:ext cx="310896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Analysis &amp; Insights</a:t>
            </a:r>
            <a:endParaRPr lang="en-US" sz="1300" dirty="0"/>
          </a:p>
        </p:txBody>
      </p:sp>
      <p:sp>
        <p:nvSpPr>
          <p:cNvPr id="31" name="Shape 29"/>
          <p:cNvSpPr/>
          <p:nvPr/>
        </p:nvSpPr>
        <p:spPr>
          <a:xfrm>
            <a:off x="4389120" y="4480560"/>
            <a:ext cx="6903720" cy="420624"/>
          </a:xfrm>
          <a:prstGeom prst="roundRect">
            <a:avLst>
              <a:gd name="adj" fmla="val 13043"/>
            </a:avLst>
          </a:prstGeom>
          <a:solidFill>
            <a:srgbClr val="EAF2FC"/>
          </a:solidFill>
          <a:ln w="12700">
            <a:solidFill>
              <a:srgbClr val="C5D9F2"/>
            </a:solidFill>
            <a:prstDash val="solid"/>
          </a:ln>
        </p:spPr>
      </p:sp>
      <p:sp>
        <p:nvSpPr>
          <p:cNvPr id="32" name="Text 30"/>
          <p:cNvSpPr txBox="1"/>
          <p:nvPr/>
        </p:nvSpPr>
        <p:spPr>
          <a:xfrm>
            <a:off x="4526280" y="4480560"/>
            <a:ext cx="6675120" cy="420624"/>
          </a:xfrm>
          <a:prstGeom prst="rect">
            <a:avLst/>
          </a:prstGeom>
          <a:noFill/>
          <a:ln/>
        </p:spPr>
        <p:txBody>
          <a:bodyPr wrap="square" lIns="0" tIns="0" rIns="0" bIns="0" rtlCol="0" anchor="ctr"/>
          <a:lstStyle/>
          <a:p>
            <a:pPr marL="0" indent="0">
              <a:buNone/>
            </a:pPr>
            <a:r>
              <a:rPr lang="en-US" sz="1200" dirty="0">
                <a:solidFill>
                  <a:srgbClr val="1B2B45"/>
                </a:solidFill>
                <a:latin typeface="Calibri" pitchFamily="34" charset="0"/>
                <a:ea typeface="Calibri" pitchFamily="34" charset="-122"/>
                <a:cs typeface="Calibri" pitchFamily="34" charset="-120"/>
              </a:rPr>
              <a:t>Explore incident patterns, detection and response performance, financial impact, and recovery trends.</a:t>
            </a:r>
            <a:endParaRPr lang="en-US" sz="1200" dirty="0"/>
          </a:p>
        </p:txBody>
      </p:sp>
      <p:sp>
        <p:nvSpPr>
          <p:cNvPr id="33" name="Shape 31"/>
          <p:cNvSpPr/>
          <p:nvPr/>
        </p:nvSpPr>
        <p:spPr>
          <a:xfrm>
            <a:off x="2468880" y="4914900"/>
            <a:ext cx="182880" cy="128016"/>
          </a:xfrm>
          <a:prstGeom prst="downArrow">
            <a:avLst/>
          </a:prstGeom>
          <a:solidFill>
            <a:srgbClr val="1F5FBF"/>
          </a:solidFill>
          <a:ln w="12700">
            <a:solidFill>
              <a:srgbClr val="1F5FBF"/>
            </a:solidFill>
            <a:prstDash val="solid"/>
          </a:ln>
        </p:spPr>
      </p:sp>
      <p:sp>
        <p:nvSpPr>
          <p:cNvPr id="34" name="Shape 32"/>
          <p:cNvSpPr/>
          <p:nvPr/>
        </p:nvSpPr>
        <p:spPr>
          <a:xfrm>
            <a:off x="914400" y="5056632"/>
            <a:ext cx="3291840" cy="420624"/>
          </a:xfrm>
          <a:prstGeom prst="roundRect">
            <a:avLst>
              <a:gd name="adj" fmla="val 13043"/>
            </a:avLst>
          </a:prstGeom>
          <a:solidFill>
            <a:srgbClr val="1F5FBF"/>
          </a:solidFill>
          <a:ln w="12700">
            <a:solidFill>
              <a:srgbClr val="1F5FBF"/>
            </a:solidFill>
            <a:prstDash val="solid"/>
          </a:ln>
        </p:spPr>
      </p:sp>
      <p:sp>
        <p:nvSpPr>
          <p:cNvPr id="35" name="Text 33"/>
          <p:cNvSpPr txBox="1"/>
          <p:nvPr/>
        </p:nvSpPr>
        <p:spPr>
          <a:xfrm>
            <a:off x="1005840" y="5056632"/>
            <a:ext cx="310896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Dashboard Creation</a:t>
            </a:r>
            <a:endParaRPr lang="en-US" sz="1300" dirty="0"/>
          </a:p>
        </p:txBody>
      </p:sp>
      <p:sp>
        <p:nvSpPr>
          <p:cNvPr id="36" name="Shape 34"/>
          <p:cNvSpPr/>
          <p:nvPr/>
        </p:nvSpPr>
        <p:spPr>
          <a:xfrm>
            <a:off x="4389120" y="5056632"/>
            <a:ext cx="6903720" cy="420624"/>
          </a:xfrm>
          <a:prstGeom prst="roundRect">
            <a:avLst>
              <a:gd name="adj" fmla="val 13043"/>
            </a:avLst>
          </a:prstGeom>
          <a:solidFill>
            <a:srgbClr val="EAF2FC"/>
          </a:solidFill>
          <a:ln w="12700">
            <a:solidFill>
              <a:srgbClr val="C5D9F2"/>
            </a:solidFill>
            <a:prstDash val="solid"/>
          </a:ln>
        </p:spPr>
      </p:sp>
      <p:sp>
        <p:nvSpPr>
          <p:cNvPr id="37" name="Text 35"/>
          <p:cNvSpPr txBox="1"/>
          <p:nvPr/>
        </p:nvSpPr>
        <p:spPr>
          <a:xfrm>
            <a:off x="4526280" y="5056632"/>
            <a:ext cx="6675120" cy="420624"/>
          </a:xfrm>
          <a:prstGeom prst="rect">
            <a:avLst/>
          </a:prstGeom>
          <a:noFill/>
          <a:ln/>
        </p:spPr>
        <p:txBody>
          <a:bodyPr wrap="square" lIns="0" tIns="0" rIns="0" bIns="0" rtlCol="0" anchor="ctr"/>
          <a:lstStyle/>
          <a:p>
            <a:pPr marL="0" indent="0">
              <a:buNone/>
            </a:pPr>
            <a:r>
              <a:rPr lang="en-US" sz="1200" dirty="0">
                <a:solidFill>
                  <a:srgbClr val="1B2B45"/>
                </a:solidFill>
                <a:latin typeface="Calibri" pitchFamily="34" charset="0"/>
                <a:ea typeface="Calibri" pitchFamily="34" charset="-122"/>
                <a:cs typeface="Calibri" pitchFamily="34" charset="-120"/>
              </a:rPr>
              <a:t>Build clear Power BI charts, KPI cards, filters, and interactive report pages.</a:t>
            </a:r>
            <a:endParaRPr lang="en-US" sz="1200" dirty="0"/>
          </a:p>
        </p:txBody>
      </p:sp>
      <p:sp>
        <p:nvSpPr>
          <p:cNvPr id="38" name="Shape 36"/>
          <p:cNvSpPr/>
          <p:nvPr/>
        </p:nvSpPr>
        <p:spPr>
          <a:xfrm>
            <a:off x="2468880" y="5490972"/>
            <a:ext cx="182880" cy="128016"/>
          </a:xfrm>
          <a:prstGeom prst="downArrow">
            <a:avLst/>
          </a:prstGeom>
          <a:solidFill>
            <a:srgbClr val="1F5FBF"/>
          </a:solidFill>
          <a:ln w="12700">
            <a:solidFill>
              <a:srgbClr val="1F5FBF"/>
            </a:solidFill>
            <a:prstDash val="solid"/>
          </a:ln>
        </p:spPr>
      </p:sp>
      <p:sp>
        <p:nvSpPr>
          <p:cNvPr id="39" name="Shape 37"/>
          <p:cNvSpPr/>
          <p:nvPr/>
        </p:nvSpPr>
        <p:spPr>
          <a:xfrm>
            <a:off x="914400" y="5632704"/>
            <a:ext cx="3291840" cy="420624"/>
          </a:xfrm>
          <a:prstGeom prst="roundRect">
            <a:avLst>
              <a:gd name="adj" fmla="val 13043"/>
            </a:avLst>
          </a:prstGeom>
          <a:solidFill>
            <a:srgbClr val="1F5FBF"/>
          </a:solidFill>
          <a:ln w="12700">
            <a:solidFill>
              <a:srgbClr val="1F5FBF"/>
            </a:solidFill>
            <a:prstDash val="solid"/>
          </a:ln>
        </p:spPr>
      </p:sp>
      <p:sp>
        <p:nvSpPr>
          <p:cNvPr id="40" name="Text 38"/>
          <p:cNvSpPr txBox="1"/>
          <p:nvPr/>
        </p:nvSpPr>
        <p:spPr>
          <a:xfrm>
            <a:off x="1005840" y="5632704"/>
            <a:ext cx="310896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Report Publishing &amp; Deployment</a:t>
            </a:r>
            <a:endParaRPr lang="en-US" sz="1300" dirty="0"/>
          </a:p>
        </p:txBody>
      </p:sp>
      <p:sp>
        <p:nvSpPr>
          <p:cNvPr id="41" name="Shape 39"/>
          <p:cNvSpPr/>
          <p:nvPr/>
        </p:nvSpPr>
        <p:spPr>
          <a:xfrm>
            <a:off x="4389120" y="5632704"/>
            <a:ext cx="6903720" cy="420624"/>
          </a:xfrm>
          <a:prstGeom prst="roundRect">
            <a:avLst>
              <a:gd name="adj" fmla="val 13043"/>
            </a:avLst>
          </a:prstGeom>
          <a:solidFill>
            <a:srgbClr val="EAF2FC"/>
          </a:solidFill>
          <a:ln w="12700">
            <a:solidFill>
              <a:srgbClr val="C5D9F2"/>
            </a:solidFill>
            <a:prstDash val="solid"/>
          </a:ln>
        </p:spPr>
      </p:sp>
      <p:sp>
        <p:nvSpPr>
          <p:cNvPr id="42" name="Text 40"/>
          <p:cNvSpPr txBox="1"/>
          <p:nvPr/>
        </p:nvSpPr>
        <p:spPr>
          <a:xfrm>
            <a:off x="4526280" y="5632704"/>
            <a:ext cx="6675120" cy="420624"/>
          </a:xfrm>
          <a:prstGeom prst="rect">
            <a:avLst/>
          </a:prstGeom>
          <a:noFill/>
          <a:ln/>
        </p:spPr>
        <p:txBody>
          <a:bodyPr wrap="square" lIns="0" tIns="0" rIns="0" bIns="0" rtlCol="0" anchor="ctr"/>
          <a:lstStyle/>
          <a:p>
            <a:pPr marL="0" indent="0">
              <a:buNone/>
            </a:pPr>
            <a:r>
              <a:rPr lang="en-US" sz="1200" dirty="0">
                <a:solidFill>
                  <a:srgbClr val="1B2B45"/>
                </a:solidFill>
                <a:latin typeface="Calibri" pitchFamily="34" charset="0"/>
                <a:ea typeface="Calibri" pitchFamily="34" charset="-122"/>
                <a:cs typeface="Calibri" pitchFamily="34" charset="-120"/>
              </a:rPr>
              <a:t>Publish the report for intended users and review access, usability, and refresh requirements.</a:t>
            </a:r>
            <a:endParaRPr lang="en-US" sz="1200" dirty="0"/>
          </a:p>
        </p:txBody>
      </p:sp>
      <p:sp>
        <p:nvSpPr>
          <p:cNvPr id="43" name="Text 41"/>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Page 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566928"/>
            <a:ext cx="9509760" cy="640080"/>
          </a:xfrm>
          <a:prstGeom prst="rect">
            <a:avLst/>
          </a:prstGeom>
          <a:noFill/>
          <a:ln/>
        </p:spPr>
        <p:txBody>
          <a:bodyPr wrap="square" lIns="0" tIns="0" rIns="0" bIns="0" rtlCol="0" anchor="ctr"/>
          <a:lstStyle/>
          <a:p>
            <a:pPr marL="0" indent="0">
              <a:buNone/>
            </a:pPr>
            <a:r>
              <a:rPr lang="en-US" sz="3200" b="1" dirty="0">
                <a:solidFill>
                  <a:srgbClr val="12315E"/>
                </a:solidFill>
                <a:latin typeface="Calibri" pitchFamily="34" charset="0"/>
                <a:ea typeface="Calibri" pitchFamily="34" charset="-122"/>
                <a:cs typeface="Calibri" pitchFamily="34" charset="-120"/>
              </a:rPr>
              <a:t>Technology Used and Milestone 1 Overview</a:t>
            </a:r>
            <a:endParaRPr lang="en-US" sz="3200" dirty="0"/>
          </a:p>
        </p:txBody>
      </p:sp>
      <p:sp>
        <p:nvSpPr>
          <p:cNvPr id="3" name="Shape 1"/>
          <p:cNvSpPr/>
          <p:nvPr/>
        </p:nvSpPr>
        <p:spPr>
          <a:xfrm>
            <a:off x="457200" y="1417320"/>
            <a:ext cx="5394960" cy="384048"/>
          </a:xfrm>
          <a:prstGeom prst="rect">
            <a:avLst/>
          </a:prstGeom>
          <a:solidFill>
            <a:srgbClr val="EAF2FC"/>
          </a:solidFill>
          <a:ln w="12700">
            <a:solidFill>
              <a:srgbClr val="EAF2FC"/>
            </a:solidFill>
            <a:prstDash val="solid"/>
          </a:ln>
        </p:spPr>
      </p:sp>
      <p:sp>
        <p:nvSpPr>
          <p:cNvPr id="4" name="Text 2"/>
          <p:cNvSpPr txBox="1"/>
          <p:nvPr/>
        </p:nvSpPr>
        <p:spPr>
          <a:xfrm>
            <a:off x="594360" y="1417320"/>
            <a:ext cx="5120640" cy="384048"/>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Technology Used</a:t>
            </a:r>
            <a:endParaRPr lang="en-US" sz="1400" dirty="0"/>
          </a:p>
        </p:txBody>
      </p:sp>
      <p:sp>
        <p:nvSpPr>
          <p:cNvPr id="5" name="Shape 3"/>
          <p:cNvSpPr/>
          <p:nvPr/>
        </p:nvSpPr>
        <p:spPr>
          <a:xfrm>
            <a:off x="457200" y="1920240"/>
            <a:ext cx="5394960" cy="2240280"/>
          </a:xfrm>
          <a:prstGeom prst="roundRect">
            <a:avLst>
              <a:gd name="adj" fmla="val 2449"/>
            </a:avLst>
          </a:prstGeom>
          <a:solidFill>
            <a:srgbClr val="EAF2FC"/>
          </a:solidFill>
          <a:ln w="12700">
            <a:solidFill>
              <a:srgbClr val="C5D9F2"/>
            </a:solidFill>
            <a:prstDash val="solid"/>
          </a:ln>
        </p:spPr>
      </p:sp>
      <p:sp>
        <p:nvSpPr>
          <p:cNvPr id="6" name="Shape 4"/>
          <p:cNvSpPr/>
          <p:nvPr/>
        </p:nvSpPr>
        <p:spPr>
          <a:xfrm>
            <a:off x="731520" y="2971800"/>
            <a:ext cx="201168" cy="411480"/>
          </a:xfrm>
          <a:prstGeom prst="rect">
            <a:avLst/>
          </a:prstGeom>
          <a:solidFill>
            <a:srgbClr val="7FB2EA"/>
          </a:solidFill>
          <a:ln w="12700">
            <a:solidFill>
              <a:srgbClr val="7FB2EA"/>
            </a:solidFill>
            <a:prstDash val="solid"/>
          </a:ln>
        </p:spPr>
      </p:sp>
      <p:sp>
        <p:nvSpPr>
          <p:cNvPr id="7" name="Shape 5"/>
          <p:cNvSpPr/>
          <p:nvPr/>
        </p:nvSpPr>
        <p:spPr>
          <a:xfrm>
            <a:off x="987552" y="2651760"/>
            <a:ext cx="201168" cy="731520"/>
          </a:xfrm>
          <a:prstGeom prst="rect">
            <a:avLst/>
          </a:prstGeom>
          <a:solidFill>
            <a:srgbClr val="3B82D6"/>
          </a:solidFill>
          <a:ln w="12700">
            <a:solidFill>
              <a:srgbClr val="3B82D6"/>
            </a:solidFill>
            <a:prstDash val="solid"/>
          </a:ln>
        </p:spPr>
      </p:sp>
      <p:sp>
        <p:nvSpPr>
          <p:cNvPr id="8" name="Shape 6"/>
          <p:cNvSpPr/>
          <p:nvPr/>
        </p:nvSpPr>
        <p:spPr>
          <a:xfrm>
            <a:off x="1243584" y="2331720"/>
            <a:ext cx="201168" cy="1051560"/>
          </a:xfrm>
          <a:prstGeom prst="rect">
            <a:avLst/>
          </a:prstGeom>
          <a:solidFill>
            <a:srgbClr val="1F5FBF"/>
          </a:solidFill>
          <a:ln w="12700">
            <a:solidFill>
              <a:srgbClr val="1F5FBF"/>
            </a:solidFill>
            <a:prstDash val="solid"/>
          </a:ln>
        </p:spPr>
      </p:sp>
      <p:sp>
        <p:nvSpPr>
          <p:cNvPr id="9" name="Text 7"/>
          <p:cNvSpPr txBox="1"/>
          <p:nvPr/>
        </p:nvSpPr>
        <p:spPr>
          <a:xfrm>
            <a:off x="1783080" y="2011680"/>
            <a:ext cx="3931920" cy="320040"/>
          </a:xfrm>
          <a:prstGeom prst="rect">
            <a:avLst/>
          </a:prstGeom>
          <a:noFill/>
          <a:ln/>
        </p:spPr>
        <p:txBody>
          <a:bodyPr wrap="square" lIns="0" tIns="0" rIns="0" bIns="0" rtlCol="0" anchor="ctr"/>
          <a:lstStyle/>
          <a:p>
            <a:pPr marL="0" indent="0">
              <a:buNone/>
            </a:pPr>
            <a:r>
              <a:rPr lang="en-US" sz="1400" b="1" dirty="0">
                <a:solidFill>
                  <a:srgbClr val="12315E"/>
                </a:solidFill>
                <a:latin typeface="Calibri" pitchFamily="34" charset="0"/>
                <a:ea typeface="Calibri" pitchFamily="34" charset="-122"/>
                <a:cs typeface="Calibri" pitchFamily="34" charset="-120"/>
              </a:rPr>
              <a:t>Microsoft Power BI Desktop</a:t>
            </a:r>
            <a:endParaRPr lang="en-US" sz="1400" dirty="0"/>
          </a:p>
        </p:txBody>
      </p:sp>
      <p:sp>
        <p:nvSpPr>
          <p:cNvPr id="10" name="Text 8"/>
          <p:cNvSpPr txBox="1"/>
          <p:nvPr/>
        </p:nvSpPr>
        <p:spPr>
          <a:xfrm>
            <a:off x="1783080" y="2377440"/>
            <a:ext cx="3931920" cy="16916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1B2B45"/>
                </a:solidFill>
                <a:latin typeface="Calibri" pitchFamily="34" charset="0"/>
                <a:ea typeface="Calibri" pitchFamily="34" charset="-122"/>
                <a:cs typeface="Calibri" pitchFamily="34" charset="-120"/>
              </a:rPr>
              <a:t>Used for data preparation, transformation, analysis and visualization</a:t>
            </a:r>
            <a:endParaRPr lang="en-US" sz="1200" dirty="0"/>
          </a:p>
          <a:p>
            <a:pPr marL="342900" indent="-342900">
              <a:spcAft>
                <a:spcPts val="200"/>
              </a:spcAft>
              <a:buSzPct val="100000"/>
              <a:buChar char="•"/>
            </a:pPr>
            <a:r>
              <a:rPr lang="en-US" sz="1200" dirty="0">
                <a:solidFill>
                  <a:srgbClr val="1B2B45"/>
                </a:solidFill>
                <a:latin typeface="Calibri" pitchFamily="34" charset="0"/>
                <a:ea typeface="Calibri" pitchFamily="34" charset="-122"/>
                <a:cs typeface="Calibri" pitchFamily="34" charset="-120"/>
              </a:rPr>
              <a:t>Importing and working with the dataset</a:t>
            </a:r>
            <a:endParaRPr lang="en-US" sz="1200" dirty="0"/>
          </a:p>
          <a:p>
            <a:pPr marL="342900" indent="-342900">
              <a:spcAft>
                <a:spcPts val="200"/>
              </a:spcAft>
              <a:buSzPct val="100000"/>
              <a:buChar char="•"/>
            </a:pPr>
            <a:r>
              <a:rPr lang="en-US" sz="1200" dirty="0">
                <a:solidFill>
                  <a:srgbClr val="1B2B45"/>
                </a:solidFill>
                <a:latin typeface="Calibri" pitchFamily="34" charset="0"/>
                <a:ea typeface="Calibri" pitchFamily="34" charset="-122"/>
                <a:cs typeface="Calibri" pitchFamily="34" charset="-120"/>
              </a:rPr>
              <a:t>Creating calculated columns and measures (DAX)</a:t>
            </a:r>
            <a:endParaRPr lang="en-US" sz="1200" dirty="0"/>
          </a:p>
          <a:p>
            <a:pPr marL="342900" indent="-342900">
              <a:spcAft>
                <a:spcPts val="200"/>
              </a:spcAft>
              <a:buSzPct val="100000"/>
              <a:buChar char="•"/>
            </a:pPr>
            <a:r>
              <a:rPr lang="en-US" sz="1200" dirty="0">
                <a:solidFill>
                  <a:srgbClr val="1B2B45"/>
                </a:solidFill>
                <a:latin typeface="Calibri" pitchFamily="34" charset="0"/>
                <a:ea typeface="Calibri" pitchFamily="34" charset="-122"/>
                <a:cs typeface="Calibri" pitchFamily="34" charset="-120"/>
              </a:rPr>
              <a:t>Building interactive dashboards with charts, tables, filters and KPIs</a:t>
            </a:r>
            <a:endParaRPr lang="en-US" sz="1200" dirty="0"/>
          </a:p>
        </p:txBody>
      </p:sp>
      <p:sp>
        <p:nvSpPr>
          <p:cNvPr id="11" name="Shape 9"/>
          <p:cNvSpPr/>
          <p:nvPr/>
        </p:nvSpPr>
        <p:spPr>
          <a:xfrm>
            <a:off x="457200" y="4343400"/>
            <a:ext cx="5394960" cy="1783080"/>
          </a:xfrm>
          <a:prstGeom prst="roundRect">
            <a:avLst>
              <a:gd name="adj" fmla="val 3077"/>
            </a:avLst>
          </a:prstGeom>
          <a:solidFill>
            <a:srgbClr val="FFFFFF"/>
          </a:solidFill>
          <a:ln w="12700">
            <a:solidFill>
              <a:srgbClr val="C5D9F2"/>
            </a:solidFill>
            <a:prstDash val="solid"/>
          </a:ln>
        </p:spPr>
      </p:sp>
      <p:sp>
        <p:nvSpPr>
          <p:cNvPr id="12" name="Shape 10"/>
          <p:cNvSpPr/>
          <p:nvPr/>
        </p:nvSpPr>
        <p:spPr>
          <a:xfrm>
            <a:off x="731520" y="4709160"/>
            <a:ext cx="822960" cy="1051560"/>
          </a:xfrm>
          <a:prstGeom prst="roundRect">
            <a:avLst>
              <a:gd name="adj" fmla="val 5556"/>
            </a:avLst>
          </a:prstGeom>
          <a:solidFill>
            <a:srgbClr val="FFFFFF"/>
          </a:solidFill>
          <a:ln w="25400">
            <a:solidFill>
              <a:srgbClr val="1F5FBF"/>
            </a:solidFill>
            <a:prstDash val="solid"/>
          </a:ln>
        </p:spPr>
      </p:sp>
      <p:sp>
        <p:nvSpPr>
          <p:cNvPr id="13" name="Text 11"/>
          <p:cNvSpPr txBox="1"/>
          <p:nvPr/>
        </p:nvSpPr>
        <p:spPr>
          <a:xfrm>
            <a:off x="731520" y="5120640"/>
            <a:ext cx="822960" cy="365760"/>
          </a:xfrm>
          <a:prstGeom prst="rect">
            <a:avLst/>
          </a:prstGeom>
          <a:noFill/>
          <a:ln/>
        </p:spPr>
        <p:txBody>
          <a:bodyPr wrap="square" lIns="0" tIns="0" rIns="0" bIns="0" rtlCol="0" anchor="ctr"/>
          <a:lstStyle/>
          <a:p>
            <a:pPr marL="0" indent="0" algn="ctr">
              <a:buNone/>
            </a:pPr>
            <a:r>
              <a:rPr lang="en-US" sz="1600" b="1" dirty="0">
                <a:solidFill>
                  <a:srgbClr val="1F5FBF"/>
                </a:solidFill>
                <a:latin typeface="Calibri" pitchFamily="34" charset="0"/>
                <a:ea typeface="Calibri" pitchFamily="34" charset="-122"/>
                <a:cs typeface="Calibri" pitchFamily="34" charset="-120"/>
              </a:rPr>
              <a:t>CSV</a:t>
            </a:r>
            <a:endParaRPr lang="en-US" sz="1600" dirty="0"/>
          </a:p>
        </p:txBody>
      </p:sp>
      <p:sp>
        <p:nvSpPr>
          <p:cNvPr id="14" name="Text 12"/>
          <p:cNvSpPr txBox="1"/>
          <p:nvPr/>
        </p:nvSpPr>
        <p:spPr>
          <a:xfrm>
            <a:off x="1783080" y="4434840"/>
            <a:ext cx="3931920" cy="320040"/>
          </a:xfrm>
          <a:prstGeom prst="rect">
            <a:avLst/>
          </a:prstGeom>
          <a:noFill/>
          <a:ln/>
        </p:spPr>
        <p:txBody>
          <a:bodyPr wrap="square" lIns="0" tIns="0" rIns="0" bIns="0" rtlCol="0" anchor="ctr"/>
          <a:lstStyle/>
          <a:p>
            <a:pPr marL="0" indent="0">
              <a:buNone/>
            </a:pPr>
            <a:r>
              <a:rPr lang="en-US" sz="1400" b="1" dirty="0">
                <a:solidFill>
                  <a:srgbClr val="12315E"/>
                </a:solidFill>
                <a:latin typeface="Calibri" pitchFamily="34" charset="0"/>
                <a:ea typeface="Calibri" pitchFamily="34" charset="-122"/>
                <a:cs typeface="Calibri" pitchFamily="34" charset="-120"/>
              </a:rPr>
              <a:t>CSV Dataset</a:t>
            </a:r>
            <a:endParaRPr lang="en-US" sz="1400" dirty="0"/>
          </a:p>
        </p:txBody>
      </p:sp>
      <p:sp>
        <p:nvSpPr>
          <p:cNvPr id="15" name="Text 13"/>
          <p:cNvSpPr txBox="1"/>
          <p:nvPr/>
        </p:nvSpPr>
        <p:spPr>
          <a:xfrm>
            <a:off x="1783080" y="4800600"/>
            <a:ext cx="3931920" cy="12344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1B2B45"/>
                </a:solidFill>
                <a:latin typeface="Calibri" pitchFamily="34" charset="0"/>
                <a:ea typeface="Calibri" pitchFamily="34" charset="-122"/>
                <a:cs typeface="Calibri" pitchFamily="34" charset="-120"/>
              </a:rPr>
              <a:t>Enterprise Cyber Kill Chain dataset</a:t>
            </a:r>
            <a:endParaRPr lang="en-US" sz="1200" dirty="0"/>
          </a:p>
          <a:p>
            <a:pPr marL="342900" indent="-342900">
              <a:spcAft>
                <a:spcPts val="200"/>
              </a:spcAft>
              <a:buSzPct val="100000"/>
              <a:buChar char="•"/>
            </a:pPr>
            <a:r>
              <a:rPr lang="en-US" sz="1200" dirty="0">
                <a:solidFill>
                  <a:srgbClr val="1B2B45"/>
                </a:solidFill>
                <a:latin typeface="Calibri" pitchFamily="34" charset="0"/>
                <a:ea typeface="Calibri" pitchFamily="34" charset="-122"/>
                <a:cs typeface="Calibri" pitchFamily="34" charset="-120"/>
              </a:rPr>
              <a:t>Source file: Enterprise_Cyber_Kill_Chain_Dataset(2).csv</a:t>
            </a:r>
            <a:endParaRPr lang="en-US" sz="1200" dirty="0"/>
          </a:p>
          <a:p>
            <a:pPr marL="342900" indent="-342900">
              <a:spcAft>
                <a:spcPts val="200"/>
              </a:spcAft>
              <a:buSzPct val="100000"/>
              <a:buChar char="•"/>
            </a:pPr>
            <a:r>
              <a:rPr lang="en-US" sz="1200" dirty="0">
                <a:solidFill>
                  <a:srgbClr val="1B2B45"/>
                </a:solidFill>
                <a:latin typeface="Calibri" pitchFamily="34" charset="0"/>
                <a:ea typeface="Calibri" pitchFamily="34" charset="-122"/>
                <a:cs typeface="Calibri" pitchFamily="34" charset="-120"/>
              </a:rPr>
              <a:t>Contains cybersecurity incident records used for analysis and visualization</a:t>
            </a:r>
            <a:endParaRPr lang="en-US" sz="1200" dirty="0"/>
          </a:p>
        </p:txBody>
      </p:sp>
      <p:sp>
        <p:nvSpPr>
          <p:cNvPr id="16" name="Shape 14"/>
          <p:cNvSpPr/>
          <p:nvPr/>
        </p:nvSpPr>
        <p:spPr>
          <a:xfrm>
            <a:off x="6217920" y="1417320"/>
            <a:ext cx="5532120" cy="384048"/>
          </a:xfrm>
          <a:prstGeom prst="rect">
            <a:avLst/>
          </a:prstGeom>
          <a:solidFill>
            <a:srgbClr val="EAF2FC"/>
          </a:solidFill>
          <a:ln w="12700">
            <a:solidFill>
              <a:srgbClr val="EAF2FC"/>
            </a:solidFill>
            <a:prstDash val="solid"/>
          </a:ln>
        </p:spPr>
      </p:sp>
      <p:sp>
        <p:nvSpPr>
          <p:cNvPr id="17" name="Text 15"/>
          <p:cNvSpPr txBox="1"/>
          <p:nvPr/>
        </p:nvSpPr>
        <p:spPr>
          <a:xfrm>
            <a:off x="6355080" y="1417320"/>
            <a:ext cx="5257800" cy="384048"/>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Milestone 1 Overview</a:t>
            </a:r>
            <a:endParaRPr lang="en-US" sz="1400" dirty="0"/>
          </a:p>
        </p:txBody>
      </p:sp>
      <p:sp>
        <p:nvSpPr>
          <p:cNvPr id="18" name="Shape 16"/>
          <p:cNvSpPr/>
          <p:nvPr/>
        </p:nvSpPr>
        <p:spPr>
          <a:xfrm>
            <a:off x="6217920" y="1920240"/>
            <a:ext cx="5532120" cy="1097280"/>
          </a:xfrm>
          <a:prstGeom prst="roundRect">
            <a:avLst>
              <a:gd name="adj" fmla="val 5000"/>
            </a:avLst>
          </a:prstGeom>
          <a:solidFill>
            <a:srgbClr val="EAF2FC"/>
          </a:solidFill>
          <a:ln w="12700">
            <a:solidFill>
              <a:srgbClr val="C5D9F2"/>
            </a:solidFill>
            <a:prstDash val="solid"/>
          </a:ln>
        </p:spPr>
      </p:sp>
      <p:sp>
        <p:nvSpPr>
          <p:cNvPr id="19" name="Text 17"/>
          <p:cNvSpPr txBox="1"/>
          <p:nvPr/>
        </p:nvSpPr>
        <p:spPr>
          <a:xfrm>
            <a:off x="6355080" y="1920240"/>
            <a:ext cx="5257800" cy="1097280"/>
          </a:xfrm>
          <a:prstGeom prst="rect">
            <a:avLst/>
          </a:prstGeom>
          <a:noFill/>
          <a:ln/>
        </p:spPr>
        <p:txBody>
          <a:bodyPr wrap="square" lIns="0" tIns="0" rIns="0" bIns="0" rtlCol="0" anchor="ctr"/>
          <a:lstStyle/>
          <a:p>
            <a:pPr marL="0" indent="0">
              <a:buNone/>
            </a:pPr>
            <a:r>
              <a:rPr lang="en-US" sz="1200" dirty="0">
                <a:solidFill>
                  <a:srgbClr val="1B2B45"/>
                </a:solidFill>
                <a:latin typeface="Calibri" pitchFamily="34" charset="0"/>
                <a:ea typeface="Calibri" pitchFamily="34" charset="-122"/>
                <a:cs typeface="Calibri" pitchFamily="34" charset="-120"/>
              </a:rPr>
              <a:t>Milestone 1 focuses on data preparation and validation of the Enterprise Cyber Kill Chain dataset. The goal is to clean and transform the raw incident data so that it can be used for meaningful analysis and visualization in the subsequent milestones.</a:t>
            </a:r>
            <a:endParaRPr lang="en-US" sz="1200" dirty="0"/>
          </a:p>
        </p:txBody>
      </p:sp>
      <p:sp>
        <p:nvSpPr>
          <p:cNvPr id="20" name="Shape 18"/>
          <p:cNvSpPr/>
          <p:nvPr/>
        </p:nvSpPr>
        <p:spPr>
          <a:xfrm>
            <a:off x="6217920" y="3200400"/>
            <a:ext cx="5532120" cy="384048"/>
          </a:xfrm>
          <a:prstGeom prst="rect">
            <a:avLst/>
          </a:prstGeom>
          <a:solidFill>
            <a:srgbClr val="EAF2FC"/>
          </a:solidFill>
          <a:ln w="12700">
            <a:solidFill>
              <a:srgbClr val="EAF2FC"/>
            </a:solidFill>
            <a:prstDash val="solid"/>
          </a:ln>
        </p:spPr>
      </p:sp>
      <p:sp>
        <p:nvSpPr>
          <p:cNvPr id="21" name="Text 19"/>
          <p:cNvSpPr txBox="1"/>
          <p:nvPr/>
        </p:nvSpPr>
        <p:spPr>
          <a:xfrm>
            <a:off x="6355080" y="3200400"/>
            <a:ext cx="5257800" cy="384048"/>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Key Activities in Milestone 1</a:t>
            </a:r>
            <a:endParaRPr lang="en-US" sz="1400" dirty="0"/>
          </a:p>
        </p:txBody>
      </p:sp>
      <p:sp>
        <p:nvSpPr>
          <p:cNvPr id="22" name="Text 20"/>
          <p:cNvSpPr txBox="1"/>
          <p:nvPr/>
        </p:nvSpPr>
        <p:spPr>
          <a:xfrm>
            <a:off x="6355080" y="3703320"/>
            <a:ext cx="5303520" cy="24231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B2B45"/>
                </a:solidFill>
                <a:latin typeface="Calibri" pitchFamily="34" charset="0"/>
                <a:ea typeface="Calibri" pitchFamily="34" charset="-122"/>
                <a:cs typeface="Calibri" pitchFamily="34" charset="-120"/>
              </a:rPr>
              <a:t>Explored and understood the dataset structure (rows, columns, data types)</a:t>
            </a:r>
            <a:endParaRPr lang="en-US" sz="1200" dirty="0"/>
          </a:p>
          <a:p>
            <a:pPr marL="342900" indent="-342900">
              <a:spcAft>
                <a:spcPts val="300"/>
              </a:spcAft>
              <a:buSzPct val="100000"/>
              <a:buChar char="•"/>
            </a:pPr>
            <a:r>
              <a:rPr lang="en-US" sz="1200" dirty="0">
                <a:solidFill>
                  <a:srgbClr val="1B2B45"/>
                </a:solidFill>
                <a:latin typeface="Calibri" pitchFamily="34" charset="0"/>
                <a:ea typeface="Calibri" pitchFamily="34" charset="-122"/>
                <a:cs typeface="Calibri" pitchFamily="34" charset="-120"/>
              </a:rPr>
              <a:t>Removed exact duplicate records</a:t>
            </a:r>
            <a:endParaRPr lang="en-US" sz="1200" dirty="0"/>
          </a:p>
          <a:p>
            <a:pPr marL="342900" indent="-342900">
              <a:spcAft>
                <a:spcPts val="300"/>
              </a:spcAft>
              <a:buSzPct val="100000"/>
              <a:buChar char="•"/>
            </a:pPr>
            <a:r>
              <a:rPr lang="en-US" sz="1200" dirty="0">
                <a:solidFill>
                  <a:srgbClr val="1B2B45"/>
                </a:solidFill>
                <a:latin typeface="Calibri" pitchFamily="34" charset="0"/>
                <a:ea typeface="Calibri" pitchFamily="34" charset="-122"/>
                <a:cs typeface="Calibri" pitchFamily="34" charset="-120"/>
              </a:rPr>
              <a:t>Validated data and handled missing values</a:t>
            </a:r>
            <a:endParaRPr lang="en-US" sz="1200" dirty="0"/>
          </a:p>
          <a:p>
            <a:pPr marL="342900" indent="-342900">
              <a:spcAft>
                <a:spcPts val="300"/>
              </a:spcAft>
              <a:buSzPct val="100000"/>
              <a:buChar char="•"/>
            </a:pPr>
            <a:r>
              <a:rPr lang="en-US" sz="1200" dirty="0">
                <a:solidFill>
                  <a:srgbClr val="1B2B45"/>
                </a:solidFill>
                <a:latin typeface="Calibri" pitchFamily="34" charset="0"/>
                <a:ea typeface="Calibri" pitchFamily="34" charset="-122"/>
                <a:cs typeface="Calibri" pitchFamily="34" charset="-120"/>
              </a:rPr>
              <a:t>Checked and corrected data types</a:t>
            </a:r>
            <a:endParaRPr lang="en-US" sz="1200" dirty="0"/>
          </a:p>
          <a:p>
            <a:pPr marL="342900" indent="-342900">
              <a:spcAft>
                <a:spcPts val="300"/>
              </a:spcAft>
              <a:buSzPct val="100000"/>
              <a:buChar char="•"/>
            </a:pPr>
            <a:r>
              <a:rPr lang="en-US" sz="1200" dirty="0">
                <a:solidFill>
                  <a:srgbClr val="1B2B45"/>
                </a:solidFill>
                <a:latin typeface="Calibri" pitchFamily="34" charset="0"/>
                <a:ea typeface="Calibri" pitchFamily="34" charset="-122"/>
                <a:cs typeface="Calibri" pitchFamily="34" charset="-120"/>
              </a:rPr>
              <a:t>Performed outlier analysis for numerical fields</a:t>
            </a:r>
            <a:endParaRPr lang="en-US" sz="1200" dirty="0"/>
          </a:p>
          <a:p>
            <a:pPr marL="342900" indent="-342900">
              <a:spcAft>
                <a:spcPts val="300"/>
              </a:spcAft>
              <a:buSzPct val="100000"/>
              <a:buChar char="•"/>
            </a:pPr>
            <a:r>
              <a:rPr lang="en-US" sz="1200" dirty="0">
                <a:solidFill>
                  <a:srgbClr val="1B2B45"/>
                </a:solidFill>
                <a:latin typeface="Calibri" pitchFamily="34" charset="0"/>
                <a:ea typeface="Calibri" pitchFamily="34" charset="-122"/>
                <a:cs typeface="Calibri" pitchFamily="34" charset="-120"/>
              </a:rPr>
              <a:t>Created three derived columns: Incident_Time_Period, High_Impact_Incident, Response_Time_Category</a:t>
            </a:r>
            <a:endParaRPr lang="en-US" sz="1200" dirty="0"/>
          </a:p>
          <a:p>
            <a:pPr marL="342900" indent="-342900">
              <a:spcAft>
                <a:spcPts val="300"/>
              </a:spcAft>
              <a:buSzPct val="100000"/>
              <a:buChar char="•"/>
            </a:pPr>
            <a:r>
              <a:rPr lang="en-US" sz="1200" dirty="0">
                <a:solidFill>
                  <a:srgbClr val="1B2B45"/>
                </a:solidFill>
                <a:latin typeface="Calibri" pitchFamily="34" charset="0"/>
                <a:ea typeface="Calibri" pitchFamily="34" charset="-122"/>
                <a:cs typeface="Calibri" pitchFamily="34" charset="-120"/>
              </a:rPr>
              <a:t>Prepared the final cleaned dataset for analysis and visualization</a:t>
            </a:r>
            <a:endParaRPr lang="en-US" sz="1200" dirty="0"/>
          </a:p>
        </p:txBody>
      </p:sp>
      <p:sp>
        <p:nvSpPr>
          <p:cNvPr id="23" name="Text 21"/>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PARI PATEL  •  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438912"/>
            <a:ext cx="4572000" cy="201168"/>
          </a:xfrm>
          <a:prstGeom prst="rect">
            <a:avLst/>
          </a:prstGeom>
          <a:noFill/>
          <a:ln/>
        </p:spPr>
        <p:txBody>
          <a:bodyPr wrap="square" lIns="0" tIns="0" rIns="0" bIns="0" rtlCol="0" anchor="ctr"/>
          <a:lstStyle/>
          <a:p>
            <a:pPr marL="0" indent="0">
              <a:buNone/>
            </a:pPr>
            <a:r>
              <a:rPr lang="en-US" sz="900" b="1" dirty="0">
                <a:solidFill>
                  <a:srgbClr val="1F5FBF"/>
                </a:solidFill>
                <a:latin typeface="Calibri" pitchFamily="34" charset="0"/>
                <a:ea typeface="Calibri" pitchFamily="34" charset="-122"/>
                <a:cs typeface="Calibri" pitchFamily="34" charset="-120"/>
              </a:rPr>
              <a:t>02 / WORKFLOW</a:t>
            </a:r>
            <a:endParaRPr lang="en-US" sz="900" dirty="0"/>
          </a:p>
        </p:txBody>
      </p:sp>
      <p:sp>
        <p:nvSpPr>
          <p:cNvPr id="3" name="Text 1"/>
          <p:cNvSpPr txBox="1"/>
          <p:nvPr/>
        </p:nvSpPr>
        <p:spPr>
          <a:xfrm>
            <a:off x="457200" y="640080"/>
            <a:ext cx="9509760" cy="640080"/>
          </a:xfrm>
          <a:prstGeom prst="rect">
            <a:avLst/>
          </a:prstGeom>
          <a:noFill/>
          <a:ln/>
        </p:spPr>
        <p:txBody>
          <a:bodyPr wrap="square" lIns="0" tIns="0" rIns="0" bIns="0" rtlCol="0" anchor="ctr"/>
          <a:lstStyle/>
          <a:p>
            <a:pPr marL="0" indent="0">
              <a:buNone/>
            </a:pPr>
            <a:r>
              <a:rPr lang="en-US" sz="3200" b="1" dirty="0">
                <a:solidFill>
                  <a:srgbClr val="12315E"/>
                </a:solidFill>
                <a:latin typeface="Calibri" pitchFamily="34" charset="0"/>
                <a:ea typeface="Calibri" pitchFamily="34" charset="-122"/>
                <a:cs typeface="Calibri" pitchFamily="34" charset="-120"/>
              </a:rPr>
              <a:t>Complete Data Preprocessing Workflow</a:t>
            </a:r>
            <a:endParaRPr lang="en-US" sz="3200" dirty="0"/>
          </a:p>
        </p:txBody>
      </p:sp>
      <p:sp>
        <p:nvSpPr>
          <p:cNvPr id="4" name="Text 2"/>
          <p:cNvSpPr txBox="1"/>
          <p:nvPr/>
        </p:nvSpPr>
        <p:spPr>
          <a:xfrm>
            <a:off x="457200" y="1325880"/>
            <a:ext cx="8229600" cy="320040"/>
          </a:xfrm>
          <a:prstGeom prst="rect">
            <a:avLst/>
          </a:prstGeom>
          <a:noFill/>
          <a:ln/>
        </p:spPr>
        <p:txBody>
          <a:bodyPr wrap="square" lIns="0" tIns="0" rIns="0" bIns="0" rtlCol="0" anchor="ctr"/>
          <a:lstStyle/>
          <a:p>
            <a:pPr marL="0" indent="0">
              <a:buNone/>
            </a:pPr>
            <a:r>
              <a:rPr lang="en-US" sz="1500" dirty="0">
                <a:solidFill>
                  <a:srgbClr val="5B6B80"/>
                </a:solidFill>
                <a:latin typeface="Calibri" pitchFamily="34" charset="0"/>
                <a:ea typeface="Calibri" pitchFamily="34" charset="-122"/>
                <a:cs typeface="Calibri" pitchFamily="34" charset="-120"/>
              </a:rPr>
              <a:t>Data preparation activities performed in Power BI.</a:t>
            </a:r>
            <a:endParaRPr lang="en-US" sz="1500" dirty="0"/>
          </a:p>
        </p:txBody>
      </p:sp>
      <p:sp>
        <p:nvSpPr>
          <p:cNvPr id="5" name="Shape 3"/>
          <p:cNvSpPr/>
          <p:nvPr/>
        </p:nvSpPr>
        <p:spPr>
          <a:xfrm>
            <a:off x="3108960" y="2194560"/>
            <a:ext cx="222504" cy="0"/>
          </a:xfrm>
          <a:prstGeom prst="line">
            <a:avLst/>
          </a:prstGeom>
          <a:noFill/>
          <a:ln w="19050">
            <a:solidFill>
              <a:srgbClr val="1F5FBF"/>
            </a:solidFill>
            <a:prstDash val="solid"/>
          </a:ln>
        </p:spPr>
      </p:sp>
      <p:sp>
        <p:nvSpPr>
          <p:cNvPr id="6" name="Shape 4"/>
          <p:cNvSpPr/>
          <p:nvPr/>
        </p:nvSpPr>
        <p:spPr>
          <a:xfrm>
            <a:off x="5983224" y="2194560"/>
            <a:ext cx="222504" cy="0"/>
          </a:xfrm>
          <a:prstGeom prst="line">
            <a:avLst/>
          </a:prstGeom>
          <a:noFill/>
          <a:ln w="19050">
            <a:solidFill>
              <a:srgbClr val="1F5FBF"/>
            </a:solidFill>
            <a:prstDash val="solid"/>
          </a:ln>
        </p:spPr>
      </p:sp>
      <p:sp>
        <p:nvSpPr>
          <p:cNvPr id="7" name="Shape 5"/>
          <p:cNvSpPr/>
          <p:nvPr/>
        </p:nvSpPr>
        <p:spPr>
          <a:xfrm>
            <a:off x="8857488" y="2194560"/>
            <a:ext cx="222504" cy="0"/>
          </a:xfrm>
          <a:prstGeom prst="line">
            <a:avLst/>
          </a:prstGeom>
          <a:noFill/>
          <a:ln w="19050">
            <a:solidFill>
              <a:srgbClr val="1F5FBF"/>
            </a:solidFill>
            <a:prstDash val="solid"/>
          </a:ln>
        </p:spPr>
      </p:sp>
      <p:sp>
        <p:nvSpPr>
          <p:cNvPr id="8" name="Shape 6"/>
          <p:cNvSpPr/>
          <p:nvPr/>
        </p:nvSpPr>
        <p:spPr>
          <a:xfrm>
            <a:off x="3108960" y="3172968"/>
            <a:ext cx="222504" cy="0"/>
          </a:xfrm>
          <a:prstGeom prst="line">
            <a:avLst/>
          </a:prstGeom>
          <a:noFill/>
          <a:ln w="19050">
            <a:solidFill>
              <a:srgbClr val="1F5FBF"/>
            </a:solidFill>
            <a:prstDash val="solid"/>
          </a:ln>
        </p:spPr>
      </p:sp>
      <p:sp>
        <p:nvSpPr>
          <p:cNvPr id="9" name="Shape 7"/>
          <p:cNvSpPr/>
          <p:nvPr/>
        </p:nvSpPr>
        <p:spPr>
          <a:xfrm>
            <a:off x="5983224" y="3172968"/>
            <a:ext cx="222504" cy="0"/>
          </a:xfrm>
          <a:prstGeom prst="line">
            <a:avLst/>
          </a:prstGeom>
          <a:noFill/>
          <a:ln w="19050">
            <a:solidFill>
              <a:srgbClr val="1F5FBF"/>
            </a:solidFill>
            <a:prstDash val="solid"/>
          </a:ln>
        </p:spPr>
      </p:sp>
      <p:sp>
        <p:nvSpPr>
          <p:cNvPr id="10" name="Shape 8"/>
          <p:cNvSpPr/>
          <p:nvPr/>
        </p:nvSpPr>
        <p:spPr>
          <a:xfrm>
            <a:off x="8857488" y="3172968"/>
            <a:ext cx="222504" cy="0"/>
          </a:xfrm>
          <a:prstGeom prst="line">
            <a:avLst/>
          </a:prstGeom>
          <a:noFill/>
          <a:ln w="19050">
            <a:solidFill>
              <a:srgbClr val="1F5FBF"/>
            </a:solidFill>
            <a:prstDash val="solid"/>
          </a:ln>
        </p:spPr>
      </p:sp>
      <p:sp>
        <p:nvSpPr>
          <p:cNvPr id="11" name="Shape 9"/>
          <p:cNvSpPr/>
          <p:nvPr/>
        </p:nvSpPr>
        <p:spPr>
          <a:xfrm>
            <a:off x="3108960" y="4151376"/>
            <a:ext cx="222504" cy="0"/>
          </a:xfrm>
          <a:prstGeom prst="line">
            <a:avLst/>
          </a:prstGeom>
          <a:noFill/>
          <a:ln w="19050">
            <a:solidFill>
              <a:srgbClr val="1F5FBF"/>
            </a:solidFill>
            <a:prstDash val="solid"/>
          </a:ln>
        </p:spPr>
      </p:sp>
      <p:sp>
        <p:nvSpPr>
          <p:cNvPr id="12" name="Shape 10"/>
          <p:cNvSpPr/>
          <p:nvPr/>
        </p:nvSpPr>
        <p:spPr>
          <a:xfrm>
            <a:off x="5983224" y="4151376"/>
            <a:ext cx="222504" cy="0"/>
          </a:xfrm>
          <a:prstGeom prst="line">
            <a:avLst/>
          </a:prstGeom>
          <a:noFill/>
          <a:ln w="19050">
            <a:solidFill>
              <a:srgbClr val="1F5FBF"/>
            </a:solidFill>
            <a:prstDash val="solid"/>
          </a:ln>
        </p:spPr>
      </p:sp>
      <p:sp>
        <p:nvSpPr>
          <p:cNvPr id="13" name="Shape 11"/>
          <p:cNvSpPr/>
          <p:nvPr/>
        </p:nvSpPr>
        <p:spPr>
          <a:xfrm>
            <a:off x="8857488" y="4151376"/>
            <a:ext cx="222504" cy="0"/>
          </a:xfrm>
          <a:prstGeom prst="line">
            <a:avLst/>
          </a:prstGeom>
          <a:noFill/>
          <a:ln w="19050">
            <a:solidFill>
              <a:srgbClr val="1F5FBF"/>
            </a:solidFill>
            <a:prstDash val="solid"/>
          </a:ln>
        </p:spPr>
      </p:sp>
      <p:sp>
        <p:nvSpPr>
          <p:cNvPr id="14" name="Shape 12"/>
          <p:cNvSpPr/>
          <p:nvPr/>
        </p:nvSpPr>
        <p:spPr>
          <a:xfrm>
            <a:off x="10405872" y="2606040"/>
            <a:ext cx="0" cy="155448"/>
          </a:xfrm>
          <a:prstGeom prst="line">
            <a:avLst/>
          </a:prstGeom>
          <a:noFill/>
          <a:ln w="19050">
            <a:solidFill>
              <a:srgbClr val="1F5FBF"/>
            </a:solidFill>
            <a:prstDash val="solid"/>
          </a:ln>
        </p:spPr>
      </p:sp>
      <p:sp>
        <p:nvSpPr>
          <p:cNvPr id="15" name="Shape 13"/>
          <p:cNvSpPr/>
          <p:nvPr/>
        </p:nvSpPr>
        <p:spPr>
          <a:xfrm>
            <a:off x="1783080" y="3584448"/>
            <a:ext cx="0" cy="155448"/>
          </a:xfrm>
          <a:prstGeom prst="line">
            <a:avLst/>
          </a:prstGeom>
          <a:noFill/>
          <a:ln w="19050">
            <a:solidFill>
              <a:srgbClr val="1F5FBF"/>
            </a:solidFill>
            <a:prstDash val="solid"/>
          </a:ln>
        </p:spPr>
      </p:sp>
      <p:sp>
        <p:nvSpPr>
          <p:cNvPr id="16" name="Shape 14"/>
          <p:cNvSpPr/>
          <p:nvPr/>
        </p:nvSpPr>
        <p:spPr>
          <a:xfrm>
            <a:off x="457200" y="1783080"/>
            <a:ext cx="2651760" cy="822960"/>
          </a:xfrm>
          <a:prstGeom prst="roundRect">
            <a:avLst>
              <a:gd name="adj" fmla="val 6667"/>
            </a:avLst>
          </a:prstGeom>
          <a:solidFill>
            <a:srgbClr val="FFFFFF"/>
          </a:solidFill>
          <a:ln w="12700">
            <a:solidFill>
              <a:srgbClr val="C5D9F2"/>
            </a:solidFill>
            <a:prstDash val="solid"/>
          </a:ln>
        </p:spPr>
      </p:sp>
      <p:sp>
        <p:nvSpPr>
          <p:cNvPr id="17" name="Shape 15"/>
          <p:cNvSpPr/>
          <p:nvPr/>
        </p:nvSpPr>
        <p:spPr>
          <a:xfrm>
            <a:off x="594360" y="1965960"/>
            <a:ext cx="457200" cy="457200"/>
          </a:xfrm>
          <a:prstGeom prst="ellipse">
            <a:avLst/>
          </a:prstGeom>
          <a:solidFill>
            <a:srgbClr val="1F5FBF"/>
          </a:solidFill>
          <a:ln w="12700">
            <a:solidFill>
              <a:srgbClr val="1F5FBF"/>
            </a:solidFill>
            <a:prstDash val="solid"/>
          </a:ln>
        </p:spPr>
      </p:sp>
      <p:sp>
        <p:nvSpPr>
          <p:cNvPr id="18" name="Text 16"/>
          <p:cNvSpPr txBox="1"/>
          <p:nvPr/>
        </p:nvSpPr>
        <p:spPr>
          <a:xfrm>
            <a:off x="594360" y="19659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9" name="Text 17"/>
          <p:cNvSpPr txBox="1"/>
          <p:nvPr/>
        </p:nvSpPr>
        <p:spPr>
          <a:xfrm>
            <a:off x="1188720" y="1783080"/>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Remove duplicates</a:t>
            </a:r>
            <a:endParaRPr lang="en-US" sz="1250" dirty="0"/>
          </a:p>
        </p:txBody>
      </p:sp>
      <p:pic>
        <p:nvPicPr>
          <p:cNvPr id="20" name="Image 0" descr="preencoded.png"/>
          <p:cNvPicPr>
            <a:picLocks noChangeAspect="1"/>
          </p:cNvPicPr>
          <p:nvPr/>
        </p:nvPicPr>
        <p:blipFill>
          <a:blip r:embed="rId3"/>
          <a:stretch>
            <a:fillRect/>
          </a:stretch>
        </p:blipFill>
        <p:spPr>
          <a:xfrm>
            <a:off x="2651760" y="2057400"/>
            <a:ext cx="274320" cy="274320"/>
          </a:xfrm>
          <a:prstGeom prst="rect">
            <a:avLst/>
          </a:prstGeom>
        </p:spPr>
      </p:pic>
      <p:sp>
        <p:nvSpPr>
          <p:cNvPr id="21" name="Shape 18"/>
          <p:cNvSpPr/>
          <p:nvPr/>
        </p:nvSpPr>
        <p:spPr>
          <a:xfrm>
            <a:off x="3331464" y="1783080"/>
            <a:ext cx="2651760" cy="822960"/>
          </a:xfrm>
          <a:prstGeom prst="roundRect">
            <a:avLst>
              <a:gd name="adj" fmla="val 6667"/>
            </a:avLst>
          </a:prstGeom>
          <a:solidFill>
            <a:srgbClr val="FFFFFF"/>
          </a:solidFill>
          <a:ln w="12700">
            <a:solidFill>
              <a:srgbClr val="C5D9F2"/>
            </a:solidFill>
            <a:prstDash val="solid"/>
          </a:ln>
        </p:spPr>
      </p:sp>
      <p:sp>
        <p:nvSpPr>
          <p:cNvPr id="22" name="Shape 19"/>
          <p:cNvSpPr/>
          <p:nvPr/>
        </p:nvSpPr>
        <p:spPr>
          <a:xfrm>
            <a:off x="3468624" y="1965960"/>
            <a:ext cx="457200" cy="457200"/>
          </a:xfrm>
          <a:prstGeom prst="ellipse">
            <a:avLst/>
          </a:prstGeom>
          <a:solidFill>
            <a:srgbClr val="1F5FBF"/>
          </a:solidFill>
          <a:ln w="12700">
            <a:solidFill>
              <a:srgbClr val="1F5FBF"/>
            </a:solidFill>
            <a:prstDash val="solid"/>
          </a:ln>
        </p:spPr>
      </p:sp>
      <p:sp>
        <p:nvSpPr>
          <p:cNvPr id="23" name="Text 20"/>
          <p:cNvSpPr txBox="1"/>
          <p:nvPr/>
        </p:nvSpPr>
        <p:spPr>
          <a:xfrm>
            <a:off x="3468624" y="19659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24" name="Text 21"/>
          <p:cNvSpPr txBox="1"/>
          <p:nvPr/>
        </p:nvSpPr>
        <p:spPr>
          <a:xfrm>
            <a:off x="4062984" y="1783080"/>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Text cleaning</a:t>
            </a:r>
            <a:endParaRPr lang="en-US" sz="1250" dirty="0"/>
          </a:p>
          <a:p>
            <a:pPr marL="0" indent="0">
              <a:buNone/>
            </a:pPr>
            <a:r>
              <a:rPr lang="en-US" sz="1250" b="1" dirty="0">
                <a:solidFill>
                  <a:srgbClr val="12315E"/>
                </a:solidFill>
                <a:latin typeface="Calibri" pitchFamily="34" charset="0"/>
                <a:ea typeface="Calibri" pitchFamily="34" charset="-122"/>
                <a:cs typeface="Calibri" pitchFamily="34" charset="-120"/>
              </a:rPr>
              <a:t>(if required)</a:t>
            </a:r>
            <a:endParaRPr lang="en-US" sz="1250" dirty="0"/>
          </a:p>
        </p:txBody>
      </p:sp>
      <p:pic>
        <p:nvPicPr>
          <p:cNvPr id="25" name="Image 1" descr="preencoded.png"/>
          <p:cNvPicPr>
            <a:picLocks noChangeAspect="1"/>
          </p:cNvPicPr>
          <p:nvPr/>
        </p:nvPicPr>
        <p:blipFill>
          <a:blip r:embed="rId4"/>
          <a:stretch>
            <a:fillRect/>
          </a:stretch>
        </p:blipFill>
        <p:spPr>
          <a:xfrm>
            <a:off x="5526024" y="2057400"/>
            <a:ext cx="274320" cy="274320"/>
          </a:xfrm>
          <a:prstGeom prst="rect">
            <a:avLst/>
          </a:prstGeom>
        </p:spPr>
      </p:pic>
      <p:sp>
        <p:nvSpPr>
          <p:cNvPr id="26" name="Shape 22"/>
          <p:cNvSpPr/>
          <p:nvPr/>
        </p:nvSpPr>
        <p:spPr>
          <a:xfrm>
            <a:off x="6205728" y="1783080"/>
            <a:ext cx="2651760" cy="822960"/>
          </a:xfrm>
          <a:prstGeom prst="roundRect">
            <a:avLst>
              <a:gd name="adj" fmla="val 6667"/>
            </a:avLst>
          </a:prstGeom>
          <a:solidFill>
            <a:srgbClr val="FFFFFF"/>
          </a:solidFill>
          <a:ln w="12700">
            <a:solidFill>
              <a:srgbClr val="C5D9F2"/>
            </a:solidFill>
            <a:prstDash val="solid"/>
          </a:ln>
        </p:spPr>
      </p:sp>
      <p:sp>
        <p:nvSpPr>
          <p:cNvPr id="27" name="Shape 23"/>
          <p:cNvSpPr/>
          <p:nvPr/>
        </p:nvSpPr>
        <p:spPr>
          <a:xfrm>
            <a:off x="6342888" y="1965960"/>
            <a:ext cx="457200" cy="457200"/>
          </a:xfrm>
          <a:prstGeom prst="ellipse">
            <a:avLst/>
          </a:prstGeom>
          <a:solidFill>
            <a:srgbClr val="1F5FBF"/>
          </a:solidFill>
          <a:ln w="12700">
            <a:solidFill>
              <a:srgbClr val="1F5FBF"/>
            </a:solidFill>
            <a:prstDash val="solid"/>
          </a:ln>
        </p:spPr>
      </p:sp>
      <p:sp>
        <p:nvSpPr>
          <p:cNvPr id="28" name="Text 24"/>
          <p:cNvSpPr txBox="1"/>
          <p:nvPr/>
        </p:nvSpPr>
        <p:spPr>
          <a:xfrm>
            <a:off x="6342888" y="19659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9" name="Text 25"/>
          <p:cNvSpPr txBox="1"/>
          <p:nvPr/>
        </p:nvSpPr>
        <p:spPr>
          <a:xfrm>
            <a:off x="6937248" y="1783080"/>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Data type</a:t>
            </a:r>
            <a:endParaRPr lang="en-US" sz="1250" dirty="0"/>
          </a:p>
          <a:p>
            <a:pPr marL="0" indent="0">
              <a:buNone/>
            </a:pPr>
            <a:r>
              <a:rPr lang="en-US" sz="1250" b="1" dirty="0">
                <a:solidFill>
                  <a:srgbClr val="12315E"/>
                </a:solidFill>
                <a:latin typeface="Calibri" pitchFamily="34" charset="0"/>
                <a:ea typeface="Calibri" pitchFamily="34" charset="-122"/>
                <a:cs typeface="Calibri" pitchFamily="34" charset="-120"/>
              </a:rPr>
              <a:t>correction</a:t>
            </a:r>
            <a:endParaRPr lang="en-US" sz="1250" dirty="0"/>
          </a:p>
        </p:txBody>
      </p:sp>
      <p:pic>
        <p:nvPicPr>
          <p:cNvPr id="30" name="Image 2" descr="preencoded.png"/>
          <p:cNvPicPr>
            <a:picLocks noChangeAspect="1"/>
          </p:cNvPicPr>
          <p:nvPr/>
        </p:nvPicPr>
        <p:blipFill>
          <a:blip r:embed="rId5"/>
          <a:stretch>
            <a:fillRect/>
          </a:stretch>
        </p:blipFill>
        <p:spPr>
          <a:xfrm>
            <a:off x="8400288" y="2057400"/>
            <a:ext cx="274320" cy="274320"/>
          </a:xfrm>
          <a:prstGeom prst="rect">
            <a:avLst/>
          </a:prstGeom>
        </p:spPr>
      </p:pic>
      <p:sp>
        <p:nvSpPr>
          <p:cNvPr id="31" name="Shape 26"/>
          <p:cNvSpPr/>
          <p:nvPr/>
        </p:nvSpPr>
        <p:spPr>
          <a:xfrm>
            <a:off x="9079992" y="1783080"/>
            <a:ext cx="2651760" cy="822960"/>
          </a:xfrm>
          <a:prstGeom prst="roundRect">
            <a:avLst>
              <a:gd name="adj" fmla="val 6667"/>
            </a:avLst>
          </a:prstGeom>
          <a:solidFill>
            <a:srgbClr val="FFFFFF"/>
          </a:solidFill>
          <a:ln w="12700">
            <a:solidFill>
              <a:srgbClr val="C5D9F2"/>
            </a:solidFill>
            <a:prstDash val="solid"/>
          </a:ln>
        </p:spPr>
      </p:sp>
      <p:sp>
        <p:nvSpPr>
          <p:cNvPr id="32" name="Shape 27"/>
          <p:cNvSpPr/>
          <p:nvPr/>
        </p:nvSpPr>
        <p:spPr>
          <a:xfrm>
            <a:off x="9217152" y="1965960"/>
            <a:ext cx="457200" cy="457200"/>
          </a:xfrm>
          <a:prstGeom prst="ellipse">
            <a:avLst/>
          </a:prstGeom>
          <a:solidFill>
            <a:srgbClr val="1F5FBF"/>
          </a:solidFill>
          <a:ln w="12700">
            <a:solidFill>
              <a:srgbClr val="1F5FBF"/>
            </a:solidFill>
            <a:prstDash val="solid"/>
          </a:ln>
        </p:spPr>
      </p:sp>
      <p:sp>
        <p:nvSpPr>
          <p:cNvPr id="33" name="Text 28"/>
          <p:cNvSpPr txBox="1"/>
          <p:nvPr/>
        </p:nvSpPr>
        <p:spPr>
          <a:xfrm>
            <a:off x="9217152" y="19659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34" name="Text 29"/>
          <p:cNvSpPr txBox="1"/>
          <p:nvPr/>
        </p:nvSpPr>
        <p:spPr>
          <a:xfrm>
            <a:off x="9811512" y="1783080"/>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Missing-value</a:t>
            </a:r>
            <a:endParaRPr lang="en-US" sz="1250" dirty="0"/>
          </a:p>
          <a:p>
            <a:pPr marL="0" indent="0">
              <a:buNone/>
            </a:pPr>
            <a:r>
              <a:rPr lang="en-US" sz="1250" b="1" dirty="0">
                <a:solidFill>
                  <a:srgbClr val="12315E"/>
                </a:solidFill>
                <a:latin typeface="Calibri" pitchFamily="34" charset="0"/>
                <a:ea typeface="Calibri" pitchFamily="34" charset="-122"/>
                <a:cs typeface="Calibri" pitchFamily="34" charset="-120"/>
              </a:rPr>
              <a:t>handling</a:t>
            </a:r>
            <a:endParaRPr lang="en-US" sz="1250" dirty="0"/>
          </a:p>
        </p:txBody>
      </p:sp>
      <p:pic>
        <p:nvPicPr>
          <p:cNvPr id="35" name="Image 3" descr="preencoded.png"/>
          <p:cNvPicPr>
            <a:picLocks noChangeAspect="1"/>
          </p:cNvPicPr>
          <p:nvPr/>
        </p:nvPicPr>
        <p:blipFill>
          <a:blip r:embed="rId6"/>
          <a:stretch>
            <a:fillRect/>
          </a:stretch>
        </p:blipFill>
        <p:spPr>
          <a:xfrm>
            <a:off x="11274552" y="2057400"/>
            <a:ext cx="274320" cy="274320"/>
          </a:xfrm>
          <a:prstGeom prst="rect">
            <a:avLst/>
          </a:prstGeom>
        </p:spPr>
      </p:pic>
      <p:sp>
        <p:nvSpPr>
          <p:cNvPr id="36" name="Shape 30"/>
          <p:cNvSpPr/>
          <p:nvPr/>
        </p:nvSpPr>
        <p:spPr>
          <a:xfrm>
            <a:off x="457200" y="2761488"/>
            <a:ext cx="2651760" cy="822960"/>
          </a:xfrm>
          <a:prstGeom prst="roundRect">
            <a:avLst>
              <a:gd name="adj" fmla="val 6667"/>
            </a:avLst>
          </a:prstGeom>
          <a:solidFill>
            <a:srgbClr val="FFFFFF"/>
          </a:solidFill>
          <a:ln w="12700">
            <a:solidFill>
              <a:srgbClr val="C5D9F2"/>
            </a:solidFill>
            <a:prstDash val="solid"/>
          </a:ln>
        </p:spPr>
      </p:sp>
      <p:sp>
        <p:nvSpPr>
          <p:cNvPr id="37" name="Shape 31"/>
          <p:cNvSpPr/>
          <p:nvPr/>
        </p:nvSpPr>
        <p:spPr>
          <a:xfrm>
            <a:off x="594360" y="2944368"/>
            <a:ext cx="457200" cy="457200"/>
          </a:xfrm>
          <a:prstGeom prst="ellipse">
            <a:avLst/>
          </a:prstGeom>
          <a:solidFill>
            <a:srgbClr val="1F5FBF"/>
          </a:solidFill>
          <a:ln w="12700">
            <a:solidFill>
              <a:srgbClr val="1F5FBF"/>
            </a:solidFill>
            <a:prstDash val="solid"/>
          </a:ln>
        </p:spPr>
      </p:sp>
      <p:sp>
        <p:nvSpPr>
          <p:cNvPr id="38" name="Text 32"/>
          <p:cNvSpPr txBox="1"/>
          <p:nvPr/>
        </p:nvSpPr>
        <p:spPr>
          <a:xfrm>
            <a:off x="594360" y="294436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39" name="Text 33"/>
          <p:cNvSpPr txBox="1"/>
          <p:nvPr/>
        </p:nvSpPr>
        <p:spPr>
          <a:xfrm>
            <a:off x="1188720" y="2761488"/>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Category</a:t>
            </a:r>
            <a:endParaRPr lang="en-US" sz="1250" dirty="0"/>
          </a:p>
          <a:p>
            <a:pPr marL="0" indent="0">
              <a:buNone/>
            </a:pPr>
            <a:r>
              <a:rPr lang="en-US" sz="1250" b="1" dirty="0">
                <a:solidFill>
                  <a:srgbClr val="12315E"/>
                </a:solidFill>
                <a:latin typeface="Calibri" pitchFamily="34" charset="0"/>
                <a:ea typeface="Calibri" pitchFamily="34" charset="-122"/>
                <a:cs typeface="Calibri" pitchFamily="34" charset="-120"/>
              </a:rPr>
              <a:t>validation</a:t>
            </a:r>
            <a:endParaRPr lang="en-US" sz="1250" dirty="0"/>
          </a:p>
        </p:txBody>
      </p:sp>
      <p:pic>
        <p:nvPicPr>
          <p:cNvPr id="40" name="Image 4" descr="preencoded.png"/>
          <p:cNvPicPr>
            <a:picLocks noChangeAspect="1"/>
          </p:cNvPicPr>
          <p:nvPr/>
        </p:nvPicPr>
        <p:blipFill>
          <a:blip r:embed="rId7"/>
          <a:stretch>
            <a:fillRect/>
          </a:stretch>
        </p:blipFill>
        <p:spPr>
          <a:xfrm>
            <a:off x="2651760" y="3035808"/>
            <a:ext cx="274320" cy="274320"/>
          </a:xfrm>
          <a:prstGeom prst="rect">
            <a:avLst/>
          </a:prstGeom>
        </p:spPr>
      </p:pic>
      <p:sp>
        <p:nvSpPr>
          <p:cNvPr id="41" name="Shape 34"/>
          <p:cNvSpPr/>
          <p:nvPr/>
        </p:nvSpPr>
        <p:spPr>
          <a:xfrm>
            <a:off x="3331464" y="2761488"/>
            <a:ext cx="2651760" cy="822960"/>
          </a:xfrm>
          <a:prstGeom prst="roundRect">
            <a:avLst>
              <a:gd name="adj" fmla="val 6667"/>
            </a:avLst>
          </a:prstGeom>
          <a:solidFill>
            <a:srgbClr val="FFFFFF"/>
          </a:solidFill>
          <a:ln w="12700">
            <a:solidFill>
              <a:srgbClr val="C5D9F2"/>
            </a:solidFill>
            <a:prstDash val="solid"/>
          </a:ln>
        </p:spPr>
      </p:sp>
      <p:sp>
        <p:nvSpPr>
          <p:cNvPr id="42" name="Shape 35"/>
          <p:cNvSpPr/>
          <p:nvPr/>
        </p:nvSpPr>
        <p:spPr>
          <a:xfrm>
            <a:off x="3468624" y="2944368"/>
            <a:ext cx="457200" cy="457200"/>
          </a:xfrm>
          <a:prstGeom prst="ellipse">
            <a:avLst/>
          </a:prstGeom>
          <a:solidFill>
            <a:srgbClr val="1F5FBF"/>
          </a:solidFill>
          <a:ln w="12700">
            <a:solidFill>
              <a:srgbClr val="1F5FBF"/>
            </a:solidFill>
            <a:prstDash val="solid"/>
          </a:ln>
        </p:spPr>
      </p:sp>
      <p:sp>
        <p:nvSpPr>
          <p:cNvPr id="43" name="Text 36"/>
          <p:cNvSpPr txBox="1"/>
          <p:nvPr/>
        </p:nvSpPr>
        <p:spPr>
          <a:xfrm>
            <a:off x="3468624" y="294436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4" name="Text 37"/>
          <p:cNvSpPr txBox="1"/>
          <p:nvPr/>
        </p:nvSpPr>
        <p:spPr>
          <a:xfrm>
            <a:off x="4062984" y="2761488"/>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Numerical data</a:t>
            </a:r>
            <a:endParaRPr lang="en-US" sz="1250" dirty="0"/>
          </a:p>
          <a:p>
            <a:pPr marL="0" indent="0">
              <a:buNone/>
            </a:pPr>
            <a:r>
              <a:rPr lang="en-US" sz="1250" b="1" dirty="0">
                <a:solidFill>
                  <a:srgbClr val="12315E"/>
                </a:solidFill>
                <a:latin typeface="Calibri" pitchFamily="34" charset="0"/>
                <a:ea typeface="Calibri" pitchFamily="34" charset="-122"/>
                <a:cs typeface="Calibri" pitchFamily="34" charset="-120"/>
              </a:rPr>
              <a:t>validation</a:t>
            </a:r>
            <a:endParaRPr lang="en-US" sz="1250" dirty="0"/>
          </a:p>
        </p:txBody>
      </p:sp>
      <p:pic>
        <p:nvPicPr>
          <p:cNvPr id="45" name="Image 5" descr="preencoded.png"/>
          <p:cNvPicPr>
            <a:picLocks noChangeAspect="1"/>
          </p:cNvPicPr>
          <p:nvPr/>
        </p:nvPicPr>
        <p:blipFill>
          <a:blip r:embed="rId8"/>
          <a:stretch>
            <a:fillRect/>
          </a:stretch>
        </p:blipFill>
        <p:spPr>
          <a:xfrm>
            <a:off x="5526024" y="3035808"/>
            <a:ext cx="274320" cy="274320"/>
          </a:xfrm>
          <a:prstGeom prst="rect">
            <a:avLst/>
          </a:prstGeom>
        </p:spPr>
      </p:pic>
      <p:sp>
        <p:nvSpPr>
          <p:cNvPr id="46" name="Shape 38"/>
          <p:cNvSpPr/>
          <p:nvPr/>
        </p:nvSpPr>
        <p:spPr>
          <a:xfrm>
            <a:off x="6205728" y="2761488"/>
            <a:ext cx="2651760" cy="822960"/>
          </a:xfrm>
          <a:prstGeom prst="roundRect">
            <a:avLst>
              <a:gd name="adj" fmla="val 6667"/>
            </a:avLst>
          </a:prstGeom>
          <a:solidFill>
            <a:srgbClr val="FFFFFF"/>
          </a:solidFill>
          <a:ln w="12700">
            <a:solidFill>
              <a:srgbClr val="C5D9F2"/>
            </a:solidFill>
            <a:prstDash val="solid"/>
          </a:ln>
        </p:spPr>
      </p:sp>
      <p:sp>
        <p:nvSpPr>
          <p:cNvPr id="47" name="Shape 39"/>
          <p:cNvSpPr/>
          <p:nvPr/>
        </p:nvSpPr>
        <p:spPr>
          <a:xfrm>
            <a:off x="6342888" y="2944368"/>
            <a:ext cx="457200" cy="457200"/>
          </a:xfrm>
          <a:prstGeom prst="ellipse">
            <a:avLst/>
          </a:prstGeom>
          <a:solidFill>
            <a:srgbClr val="1F5FBF"/>
          </a:solidFill>
          <a:ln w="12700">
            <a:solidFill>
              <a:srgbClr val="1F5FBF"/>
            </a:solidFill>
            <a:prstDash val="solid"/>
          </a:ln>
        </p:spPr>
      </p:sp>
      <p:sp>
        <p:nvSpPr>
          <p:cNvPr id="48" name="Text 40"/>
          <p:cNvSpPr txBox="1"/>
          <p:nvPr/>
        </p:nvSpPr>
        <p:spPr>
          <a:xfrm>
            <a:off x="6342888" y="294436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9" name="Text 41"/>
          <p:cNvSpPr txBox="1"/>
          <p:nvPr/>
        </p:nvSpPr>
        <p:spPr>
          <a:xfrm>
            <a:off x="6937248" y="2761488"/>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Outlier</a:t>
            </a:r>
            <a:endParaRPr lang="en-US" sz="1250" dirty="0"/>
          </a:p>
          <a:p>
            <a:pPr marL="0" indent="0">
              <a:buNone/>
            </a:pPr>
            <a:r>
              <a:rPr lang="en-US" sz="1250" b="1" dirty="0">
                <a:solidFill>
                  <a:srgbClr val="12315E"/>
                </a:solidFill>
                <a:latin typeface="Calibri" pitchFamily="34" charset="0"/>
                <a:ea typeface="Calibri" pitchFamily="34" charset="-122"/>
                <a:cs typeface="Calibri" pitchFamily="34" charset="-120"/>
              </a:rPr>
              <a:t>detection</a:t>
            </a:r>
            <a:endParaRPr lang="en-US" sz="1250" dirty="0"/>
          </a:p>
        </p:txBody>
      </p:sp>
      <p:pic>
        <p:nvPicPr>
          <p:cNvPr id="50" name="Image 6" descr="preencoded.png"/>
          <p:cNvPicPr>
            <a:picLocks noChangeAspect="1"/>
          </p:cNvPicPr>
          <p:nvPr/>
        </p:nvPicPr>
        <p:blipFill>
          <a:blip r:embed="rId9"/>
          <a:stretch>
            <a:fillRect/>
          </a:stretch>
        </p:blipFill>
        <p:spPr>
          <a:xfrm>
            <a:off x="8400288" y="3035808"/>
            <a:ext cx="274320" cy="274320"/>
          </a:xfrm>
          <a:prstGeom prst="rect">
            <a:avLst/>
          </a:prstGeom>
        </p:spPr>
      </p:pic>
      <p:sp>
        <p:nvSpPr>
          <p:cNvPr id="51" name="Shape 42"/>
          <p:cNvSpPr/>
          <p:nvPr/>
        </p:nvSpPr>
        <p:spPr>
          <a:xfrm>
            <a:off x="9079992" y="2761488"/>
            <a:ext cx="2651760" cy="822960"/>
          </a:xfrm>
          <a:prstGeom prst="roundRect">
            <a:avLst>
              <a:gd name="adj" fmla="val 6667"/>
            </a:avLst>
          </a:prstGeom>
          <a:solidFill>
            <a:srgbClr val="FFFFFF"/>
          </a:solidFill>
          <a:ln w="12700">
            <a:solidFill>
              <a:srgbClr val="C5D9F2"/>
            </a:solidFill>
            <a:prstDash val="solid"/>
          </a:ln>
        </p:spPr>
      </p:sp>
      <p:sp>
        <p:nvSpPr>
          <p:cNvPr id="52" name="Shape 43"/>
          <p:cNvSpPr/>
          <p:nvPr/>
        </p:nvSpPr>
        <p:spPr>
          <a:xfrm>
            <a:off x="9217152" y="2944368"/>
            <a:ext cx="457200" cy="457200"/>
          </a:xfrm>
          <a:prstGeom prst="ellipse">
            <a:avLst/>
          </a:prstGeom>
          <a:solidFill>
            <a:srgbClr val="1F5FBF"/>
          </a:solidFill>
          <a:ln w="12700">
            <a:solidFill>
              <a:srgbClr val="1F5FBF"/>
            </a:solidFill>
            <a:prstDash val="solid"/>
          </a:ln>
        </p:spPr>
      </p:sp>
      <p:sp>
        <p:nvSpPr>
          <p:cNvPr id="53" name="Text 44"/>
          <p:cNvSpPr txBox="1"/>
          <p:nvPr/>
        </p:nvSpPr>
        <p:spPr>
          <a:xfrm>
            <a:off x="9217152" y="294436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54" name="Text 45"/>
          <p:cNvSpPr txBox="1"/>
          <p:nvPr/>
        </p:nvSpPr>
        <p:spPr>
          <a:xfrm>
            <a:off x="9811512" y="2761488"/>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Date and time</a:t>
            </a:r>
            <a:endParaRPr lang="en-US" sz="1250" dirty="0"/>
          </a:p>
          <a:p>
            <a:pPr marL="0" indent="0">
              <a:buNone/>
            </a:pPr>
            <a:r>
              <a:rPr lang="en-US" sz="1250" b="1" dirty="0">
                <a:solidFill>
                  <a:srgbClr val="12315E"/>
                </a:solidFill>
                <a:latin typeface="Calibri" pitchFamily="34" charset="0"/>
                <a:ea typeface="Calibri" pitchFamily="34" charset="-122"/>
                <a:cs typeface="Calibri" pitchFamily="34" charset="-120"/>
              </a:rPr>
              <a:t>formatting</a:t>
            </a:r>
            <a:endParaRPr lang="en-US" sz="1250" dirty="0"/>
          </a:p>
        </p:txBody>
      </p:sp>
      <p:pic>
        <p:nvPicPr>
          <p:cNvPr id="55" name="Image 7" descr="preencoded.png"/>
          <p:cNvPicPr>
            <a:picLocks noChangeAspect="1"/>
          </p:cNvPicPr>
          <p:nvPr/>
        </p:nvPicPr>
        <p:blipFill>
          <a:blip r:embed="rId10"/>
          <a:stretch>
            <a:fillRect/>
          </a:stretch>
        </p:blipFill>
        <p:spPr>
          <a:xfrm>
            <a:off x="11274552" y="3035808"/>
            <a:ext cx="274320" cy="274320"/>
          </a:xfrm>
          <a:prstGeom prst="rect">
            <a:avLst/>
          </a:prstGeom>
        </p:spPr>
      </p:pic>
      <p:sp>
        <p:nvSpPr>
          <p:cNvPr id="56" name="Shape 46"/>
          <p:cNvSpPr/>
          <p:nvPr/>
        </p:nvSpPr>
        <p:spPr>
          <a:xfrm>
            <a:off x="457200" y="3739896"/>
            <a:ext cx="2651760" cy="822960"/>
          </a:xfrm>
          <a:prstGeom prst="roundRect">
            <a:avLst>
              <a:gd name="adj" fmla="val 6667"/>
            </a:avLst>
          </a:prstGeom>
          <a:solidFill>
            <a:srgbClr val="FFFFFF"/>
          </a:solidFill>
          <a:ln w="12700">
            <a:solidFill>
              <a:srgbClr val="C5D9F2"/>
            </a:solidFill>
            <a:prstDash val="solid"/>
          </a:ln>
        </p:spPr>
      </p:sp>
      <p:sp>
        <p:nvSpPr>
          <p:cNvPr id="57" name="Shape 47"/>
          <p:cNvSpPr/>
          <p:nvPr/>
        </p:nvSpPr>
        <p:spPr>
          <a:xfrm>
            <a:off x="594360" y="3922776"/>
            <a:ext cx="457200" cy="457200"/>
          </a:xfrm>
          <a:prstGeom prst="ellipse">
            <a:avLst/>
          </a:prstGeom>
          <a:solidFill>
            <a:srgbClr val="1F5FBF"/>
          </a:solidFill>
          <a:ln w="12700">
            <a:solidFill>
              <a:srgbClr val="1F5FBF"/>
            </a:solidFill>
            <a:prstDash val="solid"/>
          </a:ln>
        </p:spPr>
      </p:sp>
      <p:sp>
        <p:nvSpPr>
          <p:cNvPr id="58" name="Text 48"/>
          <p:cNvSpPr txBox="1"/>
          <p:nvPr/>
        </p:nvSpPr>
        <p:spPr>
          <a:xfrm>
            <a:off x="594360" y="392277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59" name="Text 49"/>
          <p:cNvSpPr txBox="1"/>
          <p:nvPr/>
        </p:nvSpPr>
        <p:spPr>
          <a:xfrm>
            <a:off x="1188720" y="3739896"/>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Feature</a:t>
            </a:r>
            <a:endParaRPr lang="en-US" sz="1250" dirty="0"/>
          </a:p>
          <a:p>
            <a:pPr marL="0" indent="0">
              <a:buNone/>
            </a:pPr>
            <a:r>
              <a:rPr lang="en-US" sz="1250" b="1" dirty="0">
                <a:solidFill>
                  <a:srgbClr val="12315E"/>
                </a:solidFill>
                <a:latin typeface="Calibri" pitchFamily="34" charset="0"/>
                <a:ea typeface="Calibri" pitchFamily="34" charset="-122"/>
                <a:cs typeface="Calibri" pitchFamily="34" charset="-120"/>
              </a:rPr>
              <a:t>creation</a:t>
            </a:r>
            <a:endParaRPr lang="en-US" sz="1250" dirty="0"/>
          </a:p>
        </p:txBody>
      </p:sp>
      <p:pic>
        <p:nvPicPr>
          <p:cNvPr id="60" name="Image 8" descr="preencoded.png"/>
          <p:cNvPicPr>
            <a:picLocks noChangeAspect="1"/>
          </p:cNvPicPr>
          <p:nvPr/>
        </p:nvPicPr>
        <p:blipFill>
          <a:blip r:embed="rId11"/>
          <a:stretch>
            <a:fillRect/>
          </a:stretch>
        </p:blipFill>
        <p:spPr>
          <a:xfrm>
            <a:off x="2651760" y="4014216"/>
            <a:ext cx="274320" cy="274320"/>
          </a:xfrm>
          <a:prstGeom prst="rect">
            <a:avLst/>
          </a:prstGeom>
        </p:spPr>
      </p:pic>
      <p:sp>
        <p:nvSpPr>
          <p:cNvPr id="61" name="Shape 50"/>
          <p:cNvSpPr/>
          <p:nvPr/>
        </p:nvSpPr>
        <p:spPr>
          <a:xfrm>
            <a:off x="3331464" y="3739896"/>
            <a:ext cx="2651760" cy="822960"/>
          </a:xfrm>
          <a:prstGeom prst="roundRect">
            <a:avLst>
              <a:gd name="adj" fmla="val 6667"/>
            </a:avLst>
          </a:prstGeom>
          <a:solidFill>
            <a:srgbClr val="FFFFFF"/>
          </a:solidFill>
          <a:ln w="12700">
            <a:solidFill>
              <a:srgbClr val="C5D9F2"/>
            </a:solidFill>
            <a:prstDash val="solid"/>
          </a:ln>
        </p:spPr>
      </p:sp>
      <p:sp>
        <p:nvSpPr>
          <p:cNvPr id="62" name="Shape 51"/>
          <p:cNvSpPr/>
          <p:nvPr/>
        </p:nvSpPr>
        <p:spPr>
          <a:xfrm>
            <a:off x="3468624" y="3922776"/>
            <a:ext cx="457200" cy="457200"/>
          </a:xfrm>
          <a:prstGeom prst="ellipse">
            <a:avLst/>
          </a:prstGeom>
          <a:solidFill>
            <a:srgbClr val="1F5FBF"/>
          </a:solidFill>
          <a:ln w="12700">
            <a:solidFill>
              <a:srgbClr val="1F5FBF"/>
            </a:solidFill>
            <a:prstDash val="solid"/>
          </a:ln>
        </p:spPr>
      </p:sp>
      <p:sp>
        <p:nvSpPr>
          <p:cNvPr id="63" name="Text 52"/>
          <p:cNvSpPr txBox="1"/>
          <p:nvPr/>
        </p:nvSpPr>
        <p:spPr>
          <a:xfrm>
            <a:off x="3468624" y="392277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64" name="Text 53"/>
          <p:cNvSpPr txBox="1"/>
          <p:nvPr/>
        </p:nvSpPr>
        <p:spPr>
          <a:xfrm>
            <a:off x="4062984" y="3739896"/>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Data consistency</a:t>
            </a:r>
            <a:endParaRPr lang="en-US" sz="1250" dirty="0"/>
          </a:p>
          <a:p>
            <a:pPr marL="0" indent="0">
              <a:buNone/>
            </a:pPr>
            <a:r>
              <a:rPr lang="en-US" sz="1250" b="1" dirty="0">
                <a:solidFill>
                  <a:srgbClr val="12315E"/>
                </a:solidFill>
                <a:latin typeface="Calibri" pitchFamily="34" charset="0"/>
                <a:ea typeface="Calibri" pitchFamily="34" charset="-122"/>
                <a:cs typeface="Calibri" pitchFamily="34" charset="-120"/>
              </a:rPr>
              <a:t>checking</a:t>
            </a:r>
            <a:endParaRPr lang="en-US" sz="1250" dirty="0"/>
          </a:p>
        </p:txBody>
      </p:sp>
      <p:pic>
        <p:nvPicPr>
          <p:cNvPr id="65" name="Image 9" descr="preencoded.png"/>
          <p:cNvPicPr>
            <a:picLocks noChangeAspect="1"/>
          </p:cNvPicPr>
          <p:nvPr/>
        </p:nvPicPr>
        <p:blipFill>
          <a:blip r:embed="rId12"/>
          <a:stretch>
            <a:fillRect/>
          </a:stretch>
        </p:blipFill>
        <p:spPr>
          <a:xfrm>
            <a:off x="5526024" y="4014216"/>
            <a:ext cx="274320" cy="274320"/>
          </a:xfrm>
          <a:prstGeom prst="rect">
            <a:avLst/>
          </a:prstGeom>
        </p:spPr>
      </p:pic>
      <p:sp>
        <p:nvSpPr>
          <p:cNvPr id="66" name="Shape 54"/>
          <p:cNvSpPr/>
          <p:nvPr/>
        </p:nvSpPr>
        <p:spPr>
          <a:xfrm>
            <a:off x="6205728" y="3739896"/>
            <a:ext cx="2651760" cy="822960"/>
          </a:xfrm>
          <a:prstGeom prst="roundRect">
            <a:avLst>
              <a:gd name="adj" fmla="val 6667"/>
            </a:avLst>
          </a:prstGeom>
          <a:solidFill>
            <a:srgbClr val="FFFFFF"/>
          </a:solidFill>
          <a:ln w="12700">
            <a:solidFill>
              <a:srgbClr val="C5D9F2"/>
            </a:solidFill>
            <a:prstDash val="solid"/>
          </a:ln>
        </p:spPr>
      </p:sp>
      <p:sp>
        <p:nvSpPr>
          <p:cNvPr id="67" name="Shape 55"/>
          <p:cNvSpPr/>
          <p:nvPr/>
        </p:nvSpPr>
        <p:spPr>
          <a:xfrm>
            <a:off x="6342888" y="3922776"/>
            <a:ext cx="457200" cy="457200"/>
          </a:xfrm>
          <a:prstGeom prst="ellipse">
            <a:avLst/>
          </a:prstGeom>
          <a:solidFill>
            <a:srgbClr val="1F5FBF"/>
          </a:solidFill>
          <a:ln w="12700">
            <a:solidFill>
              <a:srgbClr val="1F5FBF"/>
            </a:solidFill>
            <a:prstDash val="solid"/>
          </a:ln>
        </p:spPr>
      </p:sp>
      <p:sp>
        <p:nvSpPr>
          <p:cNvPr id="68" name="Text 56"/>
          <p:cNvSpPr txBox="1"/>
          <p:nvPr/>
        </p:nvSpPr>
        <p:spPr>
          <a:xfrm>
            <a:off x="6342888" y="392277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69" name="Text 57"/>
          <p:cNvSpPr txBox="1"/>
          <p:nvPr/>
        </p:nvSpPr>
        <p:spPr>
          <a:xfrm>
            <a:off x="6937248" y="3739896"/>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Invalid value</a:t>
            </a:r>
            <a:endParaRPr lang="en-US" sz="1250" dirty="0"/>
          </a:p>
          <a:p>
            <a:pPr marL="0" indent="0">
              <a:buNone/>
            </a:pPr>
            <a:r>
              <a:rPr lang="en-US" sz="1250" b="1" dirty="0">
                <a:solidFill>
                  <a:srgbClr val="12315E"/>
                </a:solidFill>
                <a:latin typeface="Calibri" pitchFamily="34" charset="0"/>
                <a:ea typeface="Calibri" pitchFamily="34" charset="-122"/>
                <a:cs typeface="Calibri" pitchFamily="34" charset="-120"/>
              </a:rPr>
              <a:t>correction</a:t>
            </a:r>
            <a:endParaRPr lang="en-US" sz="1250" dirty="0"/>
          </a:p>
        </p:txBody>
      </p:sp>
      <p:pic>
        <p:nvPicPr>
          <p:cNvPr id="70" name="Image 10" descr="preencoded.png"/>
          <p:cNvPicPr>
            <a:picLocks noChangeAspect="1"/>
          </p:cNvPicPr>
          <p:nvPr/>
        </p:nvPicPr>
        <p:blipFill>
          <a:blip r:embed="rId13"/>
          <a:stretch>
            <a:fillRect/>
          </a:stretch>
        </p:blipFill>
        <p:spPr>
          <a:xfrm>
            <a:off x="8400288" y="4014216"/>
            <a:ext cx="274320" cy="274320"/>
          </a:xfrm>
          <a:prstGeom prst="rect">
            <a:avLst/>
          </a:prstGeom>
        </p:spPr>
      </p:pic>
      <p:sp>
        <p:nvSpPr>
          <p:cNvPr id="71" name="Shape 58"/>
          <p:cNvSpPr/>
          <p:nvPr/>
        </p:nvSpPr>
        <p:spPr>
          <a:xfrm>
            <a:off x="9079992" y="3739896"/>
            <a:ext cx="2651760" cy="822960"/>
          </a:xfrm>
          <a:prstGeom prst="roundRect">
            <a:avLst>
              <a:gd name="adj" fmla="val 6667"/>
            </a:avLst>
          </a:prstGeom>
          <a:solidFill>
            <a:srgbClr val="FFFFFF"/>
          </a:solidFill>
          <a:ln w="12700">
            <a:solidFill>
              <a:srgbClr val="C5D9F2"/>
            </a:solidFill>
            <a:prstDash val="solid"/>
          </a:ln>
        </p:spPr>
      </p:sp>
      <p:sp>
        <p:nvSpPr>
          <p:cNvPr id="72" name="Shape 59"/>
          <p:cNvSpPr/>
          <p:nvPr/>
        </p:nvSpPr>
        <p:spPr>
          <a:xfrm>
            <a:off x="9217152" y="3922776"/>
            <a:ext cx="457200" cy="457200"/>
          </a:xfrm>
          <a:prstGeom prst="ellipse">
            <a:avLst/>
          </a:prstGeom>
          <a:solidFill>
            <a:srgbClr val="1F5FBF"/>
          </a:solidFill>
          <a:ln w="12700">
            <a:solidFill>
              <a:srgbClr val="1F5FBF"/>
            </a:solidFill>
            <a:prstDash val="solid"/>
          </a:ln>
        </p:spPr>
      </p:sp>
      <p:sp>
        <p:nvSpPr>
          <p:cNvPr id="73" name="Text 60"/>
          <p:cNvSpPr txBox="1"/>
          <p:nvPr/>
        </p:nvSpPr>
        <p:spPr>
          <a:xfrm>
            <a:off x="9217152" y="392277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74" name="Text 61"/>
          <p:cNvSpPr txBox="1"/>
          <p:nvPr/>
        </p:nvSpPr>
        <p:spPr>
          <a:xfrm>
            <a:off x="9811512" y="3739896"/>
            <a:ext cx="1417320" cy="82296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Standardization</a:t>
            </a:r>
            <a:endParaRPr lang="en-US" sz="1250" dirty="0"/>
          </a:p>
          <a:p>
            <a:pPr marL="0" indent="0">
              <a:buNone/>
            </a:pPr>
            <a:r>
              <a:rPr lang="en-US" sz="1250" b="1" dirty="0">
                <a:solidFill>
                  <a:srgbClr val="12315E"/>
                </a:solidFill>
                <a:latin typeface="Calibri" pitchFamily="34" charset="0"/>
                <a:ea typeface="Calibri" pitchFamily="34" charset="-122"/>
                <a:cs typeface="Calibri" pitchFamily="34" charset="-120"/>
              </a:rPr>
              <a:t>of categorical values</a:t>
            </a:r>
            <a:endParaRPr lang="en-US" sz="1250" dirty="0"/>
          </a:p>
        </p:txBody>
      </p:sp>
      <p:pic>
        <p:nvPicPr>
          <p:cNvPr id="75" name="Image 11" descr="preencoded.png"/>
          <p:cNvPicPr>
            <a:picLocks noChangeAspect="1"/>
          </p:cNvPicPr>
          <p:nvPr/>
        </p:nvPicPr>
        <p:blipFill>
          <a:blip r:embed="rId14"/>
          <a:stretch>
            <a:fillRect/>
          </a:stretch>
        </p:blipFill>
        <p:spPr>
          <a:xfrm>
            <a:off x="11274552" y="4014216"/>
            <a:ext cx="274320" cy="274320"/>
          </a:xfrm>
          <a:prstGeom prst="rect">
            <a:avLst/>
          </a:prstGeom>
        </p:spPr>
      </p:pic>
      <p:sp>
        <p:nvSpPr>
          <p:cNvPr id="76" name="Shape 62"/>
          <p:cNvSpPr/>
          <p:nvPr/>
        </p:nvSpPr>
        <p:spPr>
          <a:xfrm>
            <a:off x="457200" y="4718304"/>
            <a:ext cx="11274552" cy="731520"/>
          </a:xfrm>
          <a:prstGeom prst="roundRect">
            <a:avLst>
              <a:gd name="adj" fmla="val 7500"/>
            </a:avLst>
          </a:prstGeom>
          <a:solidFill>
            <a:srgbClr val="FFFFFF"/>
          </a:solidFill>
          <a:ln w="12700">
            <a:solidFill>
              <a:srgbClr val="C5D9F2"/>
            </a:solidFill>
            <a:prstDash val="solid"/>
          </a:ln>
        </p:spPr>
      </p:sp>
      <p:sp>
        <p:nvSpPr>
          <p:cNvPr id="77" name="Shape 63"/>
          <p:cNvSpPr/>
          <p:nvPr/>
        </p:nvSpPr>
        <p:spPr>
          <a:xfrm>
            <a:off x="594360" y="4855464"/>
            <a:ext cx="457200" cy="457200"/>
          </a:xfrm>
          <a:prstGeom prst="ellipse">
            <a:avLst/>
          </a:prstGeom>
          <a:solidFill>
            <a:srgbClr val="1F5FBF"/>
          </a:solidFill>
          <a:ln w="12700">
            <a:solidFill>
              <a:srgbClr val="1F5FBF"/>
            </a:solidFill>
            <a:prstDash val="solid"/>
          </a:ln>
        </p:spPr>
      </p:sp>
      <p:sp>
        <p:nvSpPr>
          <p:cNvPr id="78" name="Text 64"/>
          <p:cNvSpPr txBox="1"/>
          <p:nvPr/>
        </p:nvSpPr>
        <p:spPr>
          <a:xfrm>
            <a:off x="594360" y="485546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79" name="Text 65"/>
          <p:cNvSpPr txBox="1"/>
          <p:nvPr/>
        </p:nvSpPr>
        <p:spPr>
          <a:xfrm>
            <a:off x="1188720" y="4718304"/>
            <a:ext cx="7315200" cy="731520"/>
          </a:xfrm>
          <a:prstGeom prst="rect">
            <a:avLst/>
          </a:prstGeom>
          <a:noFill/>
          <a:ln/>
        </p:spPr>
        <p:txBody>
          <a:bodyPr wrap="square" lIns="0" tIns="0" rIns="0" bIns="0" rtlCol="0" anchor="ctr"/>
          <a:lstStyle/>
          <a:p>
            <a:pPr marL="0" indent="0">
              <a:buNone/>
            </a:pPr>
            <a:r>
              <a:rPr lang="en-US" sz="1250" b="1" dirty="0">
                <a:solidFill>
                  <a:srgbClr val="12315E"/>
                </a:solidFill>
                <a:latin typeface="Calibri" pitchFamily="34" charset="0"/>
                <a:ea typeface="Calibri" pitchFamily="34" charset="-122"/>
                <a:cs typeface="Calibri" pitchFamily="34" charset="-120"/>
              </a:rPr>
              <a:t>Column renaming</a:t>
            </a:r>
            <a:endParaRPr lang="en-US" sz="1250" dirty="0"/>
          </a:p>
        </p:txBody>
      </p:sp>
      <p:pic>
        <p:nvPicPr>
          <p:cNvPr id="80" name="Image 12" descr="preencoded.png"/>
          <p:cNvPicPr>
            <a:picLocks noChangeAspect="1"/>
          </p:cNvPicPr>
          <p:nvPr/>
        </p:nvPicPr>
        <p:blipFill>
          <a:blip r:embed="rId15"/>
          <a:stretch>
            <a:fillRect/>
          </a:stretch>
        </p:blipFill>
        <p:spPr>
          <a:xfrm>
            <a:off x="11274552" y="4946904"/>
            <a:ext cx="274320" cy="274320"/>
          </a:xfrm>
          <a:prstGeom prst="rect">
            <a:avLst/>
          </a:prstGeom>
        </p:spPr>
      </p:pic>
      <p:sp>
        <p:nvSpPr>
          <p:cNvPr id="81" name="Shape 66"/>
          <p:cNvSpPr/>
          <p:nvPr/>
        </p:nvSpPr>
        <p:spPr>
          <a:xfrm>
            <a:off x="457200" y="5669280"/>
            <a:ext cx="11274552" cy="502920"/>
          </a:xfrm>
          <a:prstGeom prst="roundRect">
            <a:avLst>
              <a:gd name="adj" fmla="val 10909"/>
            </a:avLst>
          </a:prstGeom>
          <a:solidFill>
            <a:srgbClr val="EAF2FC"/>
          </a:solidFill>
          <a:ln w="12700">
            <a:solidFill>
              <a:srgbClr val="C5D9F2"/>
            </a:solidFill>
            <a:prstDash val="solid"/>
          </a:ln>
        </p:spPr>
      </p:sp>
      <p:sp>
        <p:nvSpPr>
          <p:cNvPr id="82" name="Text 67"/>
          <p:cNvSpPr txBox="1"/>
          <p:nvPr/>
        </p:nvSpPr>
        <p:spPr>
          <a:xfrm>
            <a:off x="640080" y="5669280"/>
            <a:ext cx="10881360" cy="502920"/>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Outcome: </a:t>
            </a:r>
            <a:r>
              <a:rPr lang="en-US" sz="1400" dirty="0">
                <a:solidFill>
                  <a:srgbClr val="1B2B45"/>
                </a:solidFill>
                <a:latin typeface="Calibri" pitchFamily="34" charset="0"/>
                <a:ea typeface="Calibri" pitchFamily="34" charset="-122"/>
                <a:cs typeface="Calibri" pitchFamily="34" charset="-120"/>
              </a:rPr>
              <a:t>a cleaned and structured dataset ready for analysis.</a:t>
            </a:r>
            <a:endParaRPr lang="en-US" sz="1400" dirty="0"/>
          </a:p>
        </p:txBody>
      </p:sp>
      <p:sp>
        <p:nvSpPr>
          <p:cNvPr id="83" name="Text 68"/>
          <p:cNvSpPr txBox="1"/>
          <p:nvPr/>
        </p:nvSpPr>
        <p:spPr>
          <a:xfrm>
            <a:off x="457200" y="6446520"/>
            <a:ext cx="6400800" cy="256032"/>
          </a:xfrm>
          <a:prstGeom prst="rect">
            <a:avLst/>
          </a:prstGeom>
          <a:noFill/>
          <a:ln/>
        </p:spPr>
        <p:txBody>
          <a:bodyPr wrap="square" lIns="0" tIns="0" rIns="0" bIns="0" rtlCol="0" anchor="ctr"/>
          <a:lstStyle/>
          <a:p>
            <a:pPr marL="0" indent="0">
              <a:buNone/>
            </a:pPr>
            <a:r>
              <a:rPr lang="en-US" sz="900" b="1" dirty="0">
                <a:solidFill>
                  <a:srgbClr val="5B6B80"/>
                </a:solidFill>
                <a:latin typeface="Calibri" pitchFamily="34" charset="0"/>
                <a:ea typeface="Calibri" pitchFamily="34" charset="-122"/>
                <a:cs typeface="Calibri" pitchFamily="34" charset="-120"/>
              </a:rPr>
              <a:t>INFOSYS SPRINGBOARD 7.0  /  MILESTONE 1</a:t>
            </a:r>
            <a:endParaRPr lang="en-US" sz="900" dirty="0"/>
          </a:p>
        </p:txBody>
      </p:sp>
      <p:sp>
        <p:nvSpPr>
          <p:cNvPr id="84" name="Text 69"/>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PARI PATEL  •  03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438912"/>
            <a:ext cx="4572000" cy="201168"/>
          </a:xfrm>
          <a:prstGeom prst="rect">
            <a:avLst/>
          </a:prstGeom>
          <a:noFill/>
          <a:ln/>
        </p:spPr>
        <p:txBody>
          <a:bodyPr wrap="square" lIns="0" tIns="0" rIns="0" bIns="0" rtlCol="0" anchor="ctr"/>
          <a:lstStyle/>
          <a:p>
            <a:pPr marL="0" indent="0">
              <a:buNone/>
            </a:pPr>
            <a:r>
              <a:rPr lang="en-US" sz="900" b="1" dirty="0">
                <a:solidFill>
                  <a:srgbClr val="1F5FBF"/>
                </a:solidFill>
                <a:latin typeface="Calibri" pitchFamily="34" charset="0"/>
                <a:ea typeface="Calibri" pitchFamily="34" charset="-122"/>
                <a:cs typeface="Calibri" pitchFamily="34" charset="-120"/>
              </a:rPr>
              <a:t>03 / DATASET PROFILE</a:t>
            </a:r>
            <a:endParaRPr lang="en-US" sz="900" dirty="0"/>
          </a:p>
        </p:txBody>
      </p:sp>
      <p:sp>
        <p:nvSpPr>
          <p:cNvPr id="3" name="Text 1"/>
          <p:cNvSpPr txBox="1"/>
          <p:nvPr/>
        </p:nvSpPr>
        <p:spPr>
          <a:xfrm>
            <a:off x="457200" y="640080"/>
            <a:ext cx="9509760" cy="640080"/>
          </a:xfrm>
          <a:prstGeom prst="rect">
            <a:avLst/>
          </a:prstGeom>
          <a:noFill/>
          <a:ln/>
        </p:spPr>
        <p:txBody>
          <a:bodyPr wrap="square" lIns="0" tIns="0" rIns="0" bIns="0" rtlCol="0" anchor="ctr"/>
          <a:lstStyle/>
          <a:p>
            <a:pPr marL="0" indent="0">
              <a:buNone/>
            </a:pPr>
            <a:r>
              <a:rPr lang="en-US" sz="3200" b="1" dirty="0">
                <a:solidFill>
                  <a:srgbClr val="12315E"/>
                </a:solidFill>
                <a:latin typeface="Calibri" pitchFamily="34" charset="0"/>
                <a:ea typeface="Calibri" pitchFamily="34" charset="-122"/>
                <a:cs typeface="Calibri" pitchFamily="34" charset="-120"/>
              </a:rPr>
              <a:t>Dataset Overview: Six Main Categories</a:t>
            </a:r>
            <a:endParaRPr lang="en-US" sz="3200" dirty="0"/>
          </a:p>
        </p:txBody>
      </p:sp>
      <p:sp>
        <p:nvSpPr>
          <p:cNvPr id="4" name="Text 2"/>
          <p:cNvSpPr txBox="1"/>
          <p:nvPr/>
        </p:nvSpPr>
        <p:spPr>
          <a:xfrm>
            <a:off x="457200" y="1325880"/>
            <a:ext cx="5486400" cy="301752"/>
          </a:xfrm>
          <a:prstGeom prst="rect">
            <a:avLst/>
          </a:prstGeom>
          <a:noFill/>
          <a:ln/>
        </p:spPr>
        <p:txBody>
          <a:bodyPr wrap="square" lIns="0" tIns="0" rIns="0" bIns="0" rtlCol="0" anchor="ctr"/>
          <a:lstStyle/>
          <a:p>
            <a:pPr marL="0" indent="0">
              <a:buNone/>
            </a:pPr>
            <a:r>
              <a:rPr lang="en-US" sz="1600" b="1" dirty="0">
                <a:solidFill>
                  <a:srgbClr val="12315E"/>
                </a:solidFill>
                <a:latin typeface="Calibri" pitchFamily="34" charset="0"/>
                <a:ea typeface="Calibri" pitchFamily="34" charset="-122"/>
                <a:cs typeface="Calibri" pitchFamily="34" charset="-120"/>
              </a:rPr>
              <a:t>Enterprise Cyber Kill Chain</a:t>
            </a:r>
            <a:endParaRPr lang="en-US" sz="1600" dirty="0"/>
          </a:p>
        </p:txBody>
      </p:sp>
      <p:sp>
        <p:nvSpPr>
          <p:cNvPr id="5" name="Text 3"/>
          <p:cNvSpPr txBox="1"/>
          <p:nvPr/>
        </p:nvSpPr>
        <p:spPr>
          <a:xfrm>
            <a:off x="457200" y="1627632"/>
            <a:ext cx="5486400" cy="228600"/>
          </a:xfrm>
          <a:prstGeom prst="rect">
            <a:avLst/>
          </a:prstGeom>
          <a:noFill/>
          <a:ln/>
        </p:spPr>
        <p:txBody>
          <a:bodyPr wrap="square" lIns="0" tIns="0" rIns="0" bIns="0" rtlCol="0" anchor="ctr"/>
          <a:lstStyle/>
          <a:p>
            <a:pPr marL="0" indent="0">
              <a:buNone/>
            </a:pPr>
            <a:r>
              <a:rPr lang="en-US" sz="1100" dirty="0">
                <a:solidFill>
                  <a:srgbClr val="5B6B80"/>
                </a:solidFill>
                <a:latin typeface="Calibri" pitchFamily="34" charset="0"/>
                <a:ea typeface="Calibri" pitchFamily="34" charset="-122"/>
                <a:cs typeface="Calibri" pitchFamily="34" charset="-120"/>
              </a:rPr>
              <a:t>Source: Enterprise_Cyber_Kill_Chain_Dataset(2).csv</a:t>
            </a:r>
            <a:endParaRPr lang="en-US" sz="1100" dirty="0"/>
          </a:p>
        </p:txBody>
      </p:sp>
      <p:sp>
        <p:nvSpPr>
          <p:cNvPr id="6" name="Shape 4"/>
          <p:cNvSpPr/>
          <p:nvPr/>
        </p:nvSpPr>
        <p:spPr>
          <a:xfrm>
            <a:off x="457200" y="1965960"/>
            <a:ext cx="2697480" cy="822960"/>
          </a:xfrm>
          <a:prstGeom prst="roundRect">
            <a:avLst>
              <a:gd name="adj" fmla="val 6667"/>
            </a:avLst>
          </a:prstGeom>
          <a:solidFill>
            <a:srgbClr val="FFFFFF"/>
          </a:solidFill>
          <a:ln w="12700">
            <a:solidFill>
              <a:srgbClr val="C5D9F2"/>
            </a:solidFill>
            <a:prstDash val="solid"/>
          </a:ln>
        </p:spPr>
      </p:sp>
      <p:sp>
        <p:nvSpPr>
          <p:cNvPr id="7" name="Text 5"/>
          <p:cNvSpPr txBox="1"/>
          <p:nvPr/>
        </p:nvSpPr>
        <p:spPr>
          <a:xfrm>
            <a:off x="594360" y="1965960"/>
            <a:ext cx="2468880" cy="822960"/>
          </a:xfrm>
          <a:prstGeom prst="rect">
            <a:avLst/>
          </a:prstGeom>
          <a:noFill/>
          <a:ln/>
        </p:spPr>
        <p:txBody>
          <a:bodyPr wrap="square" lIns="0" tIns="0" rIns="0" bIns="0" rtlCol="0" anchor="ctr"/>
          <a:lstStyle/>
          <a:p>
            <a:pPr marL="0" indent="0">
              <a:buNone/>
            </a:pPr>
            <a:r>
              <a:rPr lang="en-US" sz="2400" b="1" dirty="0">
                <a:solidFill>
                  <a:srgbClr val="12315E"/>
                </a:solidFill>
                <a:latin typeface="Calibri" pitchFamily="34" charset="0"/>
                <a:ea typeface="Calibri" pitchFamily="34" charset="-122"/>
                <a:cs typeface="Calibri" pitchFamily="34" charset="-120"/>
              </a:rPr>
              <a:t>100,500</a:t>
            </a:r>
            <a:endParaRPr lang="en-US" sz="2400" dirty="0"/>
          </a:p>
          <a:p>
            <a:pPr marL="0" indent="0">
              <a:buNone/>
            </a:pPr>
            <a:r>
              <a:rPr lang="en-US" sz="1100" b="1" dirty="0">
                <a:solidFill>
                  <a:srgbClr val="1F5FBF"/>
                </a:solidFill>
                <a:latin typeface="Calibri" pitchFamily="34" charset="0"/>
                <a:ea typeface="Calibri" pitchFamily="34" charset="-122"/>
                <a:cs typeface="Calibri" pitchFamily="34" charset="-120"/>
              </a:rPr>
              <a:t>Original rows</a:t>
            </a:r>
            <a:endParaRPr lang="en-US" sz="2400" dirty="0"/>
          </a:p>
        </p:txBody>
      </p:sp>
      <p:sp>
        <p:nvSpPr>
          <p:cNvPr id="8" name="Shape 6"/>
          <p:cNvSpPr/>
          <p:nvPr/>
        </p:nvSpPr>
        <p:spPr>
          <a:xfrm>
            <a:off x="3319272" y="1965960"/>
            <a:ext cx="2697480" cy="822960"/>
          </a:xfrm>
          <a:prstGeom prst="roundRect">
            <a:avLst>
              <a:gd name="adj" fmla="val 6667"/>
            </a:avLst>
          </a:prstGeom>
          <a:solidFill>
            <a:srgbClr val="FFFFFF"/>
          </a:solidFill>
          <a:ln w="12700">
            <a:solidFill>
              <a:srgbClr val="C5D9F2"/>
            </a:solidFill>
            <a:prstDash val="solid"/>
          </a:ln>
        </p:spPr>
      </p:sp>
      <p:sp>
        <p:nvSpPr>
          <p:cNvPr id="9" name="Text 7"/>
          <p:cNvSpPr txBox="1"/>
          <p:nvPr/>
        </p:nvSpPr>
        <p:spPr>
          <a:xfrm>
            <a:off x="3456432" y="1965960"/>
            <a:ext cx="2468880" cy="822960"/>
          </a:xfrm>
          <a:prstGeom prst="rect">
            <a:avLst/>
          </a:prstGeom>
          <a:noFill/>
          <a:ln/>
        </p:spPr>
        <p:txBody>
          <a:bodyPr wrap="square" lIns="0" tIns="0" rIns="0" bIns="0" rtlCol="0" anchor="ctr"/>
          <a:lstStyle/>
          <a:p>
            <a:pPr marL="0" indent="0">
              <a:buNone/>
            </a:pPr>
            <a:r>
              <a:rPr lang="en-US" sz="2400" b="1" dirty="0">
                <a:solidFill>
                  <a:srgbClr val="12315E"/>
                </a:solidFill>
                <a:latin typeface="Calibri" pitchFamily="34" charset="0"/>
                <a:ea typeface="Calibri" pitchFamily="34" charset="-122"/>
                <a:cs typeface="Calibri" pitchFamily="34" charset="-120"/>
              </a:rPr>
              <a:t>50</a:t>
            </a:r>
            <a:endParaRPr lang="en-US" sz="2400" dirty="0"/>
          </a:p>
          <a:p>
            <a:pPr marL="0" indent="0">
              <a:buNone/>
            </a:pPr>
            <a:r>
              <a:rPr lang="en-US" sz="1100" b="1" dirty="0">
                <a:solidFill>
                  <a:srgbClr val="1F5FBF"/>
                </a:solidFill>
                <a:latin typeface="Calibri" pitchFamily="34" charset="0"/>
                <a:ea typeface="Calibri" pitchFamily="34" charset="-122"/>
                <a:cs typeface="Calibri" pitchFamily="34" charset="-120"/>
              </a:rPr>
              <a:t>Original columns</a:t>
            </a:r>
            <a:endParaRPr lang="en-US" sz="2400" dirty="0"/>
          </a:p>
        </p:txBody>
      </p:sp>
      <p:sp>
        <p:nvSpPr>
          <p:cNvPr id="10" name="Shape 8"/>
          <p:cNvSpPr/>
          <p:nvPr/>
        </p:nvSpPr>
        <p:spPr>
          <a:xfrm>
            <a:off x="6181344" y="1965960"/>
            <a:ext cx="2697480" cy="822960"/>
          </a:xfrm>
          <a:prstGeom prst="roundRect">
            <a:avLst>
              <a:gd name="adj" fmla="val 6667"/>
            </a:avLst>
          </a:prstGeom>
          <a:solidFill>
            <a:srgbClr val="FFFFFF"/>
          </a:solidFill>
          <a:ln w="12700">
            <a:solidFill>
              <a:srgbClr val="C5D9F2"/>
            </a:solidFill>
            <a:prstDash val="solid"/>
          </a:ln>
        </p:spPr>
      </p:sp>
      <p:sp>
        <p:nvSpPr>
          <p:cNvPr id="11" name="Text 9"/>
          <p:cNvSpPr txBox="1"/>
          <p:nvPr/>
        </p:nvSpPr>
        <p:spPr>
          <a:xfrm>
            <a:off x="6318504" y="1965960"/>
            <a:ext cx="2468880" cy="822960"/>
          </a:xfrm>
          <a:prstGeom prst="rect">
            <a:avLst/>
          </a:prstGeom>
          <a:noFill/>
          <a:ln/>
        </p:spPr>
        <p:txBody>
          <a:bodyPr wrap="square" lIns="0" tIns="0" rIns="0" bIns="0" rtlCol="0" anchor="ctr"/>
          <a:lstStyle/>
          <a:p>
            <a:pPr marL="0" indent="0">
              <a:buNone/>
            </a:pPr>
            <a:r>
              <a:rPr lang="en-US" sz="2400" b="1" dirty="0">
                <a:solidFill>
                  <a:srgbClr val="12315E"/>
                </a:solidFill>
                <a:latin typeface="Calibri" pitchFamily="34" charset="0"/>
                <a:ea typeface="Calibri" pitchFamily="34" charset="-122"/>
                <a:cs typeface="Calibri" pitchFamily="34" charset="-120"/>
              </a:rPr>
              <a:t>500</a:t>
            </a:r>
            <a:endParaRPr lang="en-US" sz="2400" dirty="0"/>
          </a:p>
          <a:p>
            <a:pPr marL="0" indent="0">
              <a:buNone/>
            </a:pPr>
            <a:r>
              <a:rPr lang="en-US" sz="1100" b="1" dirty="0">
                <a:solidFill>
                  <a:srgbClr val="1F5FBF"/>
                </a:solidFill>
                <a:latin typeface="Calibri" pitchFamily="34" charset="0"/>
                <a:ea typeface="Calibri" pitchFamily="34" charset="-122"/>
                <a:cs typeface="Calibri" pitchFamily="34" charset="-120"/>
              </a:rPr>
              <a:t>Exact duplicates removed</a:t>
            </a:r>
            <a:endParaRPr lang="en-US" sz="2400" dirty="0"/>
          </a:p>
        </p:txBody>
      </p:sp>
      <p:sp>
        <p:nvSpPr>
          <p:cNvPr id="12" name="Shape 10"/>
          <p:cNvSpPr/>
          <p:nvPr/>
        </p:nvSpPr>
        <p:spPr>
          <a:xfrm>
            <a:off x="9043416" y="1965960"/>
            <a:ext cx="2697480" cy="822960"/>
          </a:xfrm>
          <a:prstGeom prst="roundRect">
            <a:avLst>
              <a:gd name="adj" fmla="val 6667"/>
            </a:avLst>
          </a:prstGeom>
          <a:solidFill>
            <a:srgbClr val="FFFFFF"/>
          </a:solidFill>
          <a:ln w="12700">
            <a:solidFill>
              <a:srgbClr val="C5D9F2"/>
            </a:solidFill>
            <a:prstDash val="solid"/>
          </a:ln>
        </p:spPr>
      </p:sp>
      <p:sp>
        <p:nvSpPr>
          <p:cNvPr id="13" name="Text 11"/>
          <p:cNvSpPr txBox="1"/>
          <p:nvPr/>
        </p:nvSpPr>
        <p:spPr>
          <a:xfrm>
            <a:off x="9180576" y="1965960"/>
            <a:ext cx="2468880" cy="822960"/>
          </a:xfrm>
          <a:prstGeom prst="rect">
            <a:avLst/>
          </a:prstGeom>
          <a:noFill/>
          <a:ln/>
        </p:spPr>
        <p:txBody>
          <a:bodyPr wrap="square" lIns="0" tIns="0" rIns="0" bIns="0" rtlCol="0" anchor="ctr"/>
          <a:lstStyle/>
          <a:p>
            <a:pPr marL="0" indent="0">
              <a:buNone/>
            </a:pPr>
            <a:r>
              <a:rPr lang="en-US" sz="2400" b="1" dirty="0">
                <a:solidFill>
                  <a:srgbClr val="12315E"/>
                </a:solidFill>
                <a:latin typeface="Calibri" pitchFamily="34" charset="0"/>
                <a:ea typeface="Calibri" pitchFamily="34" charset="-122"/>
                <a:cs typeface="Calibri" pitchFamily="34" charset="-120"/>
              </a:rPr>
              <a:t>100,000</a:t>
            </a:r>
            <a:endParaRPr lang="en-US" sz="2400" dirty="0"/>
          </a:p>
          <a:p>
            <a:pPr marL="0" indent="0">
              <a:buNone/>
            </a:pPr>
            <a:r>
              <a:rPr lang="en-US" sz="1100" b="1" dirty="0">
                <a:solidFill>
                  <a:srgbClr val="1F5FBF"/>
                </a:solidFill>
                <a:latin typeface="Calibri" pitchFamily="34" charset="0"/>
                <a:ea typeface="Calibri" pitchFamily="34" charset="-122"/>
                <a:cs typeface="Calibri" pitchFamily="34" charset="-120"/>
              </a:rPr>
              <a:t>Rows after cleaning</a:t>
            </a:r>
            <a:endParaRPr lang="en-US" sz="2400" dirty="0"/>
          </a:p>
          <a:p>
            <a:pPr marL="0" indent="0">
              <a:buNone/>
            </a:pPr>
            <a:r>
              <a:rPr lang="en-US" sz="1100" b="1" dirty="0">
                <a:solidFill>
                  <a:srgbClr val="1F5FBF"/>
                </a:solidFill>
                <a:latin typeface="Calibri" pitchFamily="34" charset="0"/>
                <a:ea typeface="Calibri" pitchFamily="34" charset="-122"/>
                <a:cs typeface="Calibri" pitchFamily="34" charset="-120"/>
              </a:rPr>
              <a:t>(3 derived columns added)</a:t>
            </a:r>
            <a:endParaRPr lang="en-US" sz="2400" dirty="0"/>
          </a:p>
        </p:txBody>
      </p:sp>
      <p:sp>
        <p:nvSpPr>
          <p:cNvPr id="14" name="Text 12"/>
          <p:cNvSpPr txBox="1"/>
          <p:nvPr/>
        </p:nvSpPr>
        <p:spPr>
          <a:xfrm>
            <a:off x="457200" y="2926080"/>
            <a:ext cx="5486400" cy="228600"/>
          </a:xfrm>
          <a:prstGeom prst="rect">
            <a:avLst/>
          </a:prstGeom>
          <a:noFill/>
          <a:ln/>
        </p:spPr>
        <p:txBody>
          <a:bodyPr wrap="square" lIns="0" tIns="0" rIns="0" bIns="0" rtlCol="0" anchor="ctr"/>
          <a:lstStyle/>
          <a:p>
            <a:pPr marL="0" indent="0">
              <a:buNone/>
            </a:pPr>
            <a:r>
              <a:rPr lang="en-US" sz="1100" b="1" dirty="0">
                <a:solidFill>
                  <a:srgbClr val="1F5FBF"/>
                </a:solidFill>
                <a:latin typeface="Calibri" pitchFamily="34" charset="0"/>
                <a:ea typeface="Calibri" pitchFamily="34" charset="-122"/>
                <a:cs typeface="Calibri" pitchFamily="34" charset="-120"/>
              </a:rPr>
              <a:t>SIX HIGH-LEVEL COLUMN GROUPS</a:t>
            </a:r>
            <a:endParaRPr lang="en-US" sz="1100" dirty="0"/>
          </a:p>
        </p:txBody>
      </p:sp>
      <p:sp>
        <p:nvSpPr>
          <p:cNvPr id="15" name="Shape 13"/>
          <p:cNvSpPr/>
          <p:nvPr/>
        </p:nvSpPr>
        <p:spPr>
          <a:xfrm>
            <a:off x="457200" y="3200400"/>
            <a:ext cx="2697480" cy="804672"/>
          </a:xfrm>
          <a:prstGeom prst="roundRect">
            <a:avLst>
              <a:gd name="adj" fmla="val 6818"/>
            </a:avLst>
          </a:prstGeom>
          <a:solidFill>
            <a:srgbClr val="FFFFFF"/>
          </a:solidFill>
          <a:ln w="12700">
            <a:solidFill>
              <a:srgbClr val="C5D9F2"/>
            </a:solidFill>
            <a:prstDash val="solid"/>
          </a:ln>
        </p:spPr>
      </p:sp>
      <p:sp>
        <p:nvSpPr>
          <p:cNvPr id="16" name="Text 14"/>
          <p:cNvSpPr txBox="1"/>
          <p:nvPr/>
        </p:nvSpPr>
        <p:spPr>
          <a:xfrm>
            <a:off x="566928" y="3200400"/>
            <a:ext cx="2468880" cy="804672"/>
          </a:xfrm>
          <a:prstGeom prst="rect">
            <a:avLst/>
          </a:prstGeom>
          <a:noFill/>
          <a:ln/>
        </p:spPr>
        <p:txBody>
          <a:bodyPr wrap="square" lIns="0" tIns="0" rIns="0" bIns="0" rtlCol="0" anchor="ctr"/>
          <a:lstStyle/>
          <a:p>
            <a:pPr marL="0" indent="0">
              <a:buNone/>
            </a:pPr>
            <a:r>
              <a:rPr lang="en-US" sz="1200" b="1" dirty="0">
                <a:solidFill>
                  <a:srgbClr val="12315E"/>
                </a:solidFill>
                <a:latin typeface="Calibri" pitchFamily="34" charset="0"/>
                <a:ea typeface="Calibri" pitchFamily="34" charset="-122"/>
                <a:cs typeface="Calibri" pitchFamily="34" charset="-120"/>
              </a:rPr>
              <a:t>Incident &amp; attack details</a:t>
            </a:r>
            <a:endParaRPr lang="en-US" sz="1200" dirty="0"/>
          </a:p>
          <a:p>
            <a:pPr marL="0" indent="0">
              <a:buNone/>
            </a:pPr>
            <a:r>
              <a:rPr lang="en-US" sz="1050" dirty="0">
                <a:solidFill>
                  <a:srgbClr val="1B2B45"/>
                </a:solidFill>
                <a:latin typeface="Calibri" pitchFamily="34" charset="0"/>
                <a:ea typeface="Calibri" pitchFamily="34" charset="-122"/>
                <a:cs typeface="Calibri" pitchFamily="34" charset="-120"/>
              </a:rPr>
              <a:t>Incident and attack attributes</a:t>
            </a:r>
            <a:endParaRPr lang="en-US" sz="1200" dirty="0"/>
          </a:p>
        </p:txBody>
      </p:sp>
      <p:sp>
        <p:nvSpPr>
          <p:cNvPr id="17" name="Shape 15"/>
          <p:cNvSpPr/>
          <p:nvPr/>
        </p:nvSpPr>
        <p:spPr>
          <a:xfrm>
            <a:off x="3291840" y="3200400"/>
            <a:ext cx="2697480" cy="804672"/>
          </a:xfrm>
          <a:prstGeom prst="roundRect">
            <a:avLst>
              <a:gd name="adj" fmla="val 6818"/>
            </a:avLst>
          </a:prstGeom>
          <a:solidFill>
            <a:srgbClr val="FFFFFF"/>
          </a:solidFill>
          <a:ln w="12700">
            <a:solidFill>
              <a:srgbClr val="C5D9F2"/>
            </a:solidFill>
            <a:prstDash val="solid"/>
          </a:ln>
        </p:spPr>
      </p:sp>
      <p:sp>
        <p:nvSpPr>
          <p:cNvPr id="18" name="Text 16"/>
          <p:cNvSpPr txBox="1"/>
          <p:nvPr/>
        </p:nvSpPr>
        <p:spPr>
          <a:xfrm>
            <a:off x="3401568" y="3200400"/>
            <a:ext cx="2468880" cy="804672"/>
          </a:xfrm>
          <a:prstGeom prst="rect">
            <a:avLst/>
          </a:prstGeom>
          <a:noFill/>
          <a:ln/>
        </p:spPr>
        <p:txBody>
          <a:bodyPr wrap="square" lIns="0" tIns="0" rIns="0" bIns="0" rtlCol="0" anchor="ctr"/>
          <a:lstStyle/>
          <a:p>
            <a:pPr marL="0" indent="0">
              <a:buNone/>
            </a:pPr>
            <a:r>
              <a:rPr lang="en-US" sz="1200" b="1" dirty="0">
                <a:solidFill>
                  <a:srgbClr val="12315E"/>
                </a:solidFill>
                <a:latin typeface="Calibri" pitchFamily="34" charset="0"/>
                <a:ea typeface="Calibri" pitchFamily="34" charset="-122"/>
                <a:cs typeface="Calibri" pitchFamily="34" charset="-120"/>
              </a:rPr>
              <a:t>Detection metrics</a:t>
            </a:r>
            <a:endParaRPr lang="en-US" sz="1200" dirty="0"/>
          </a:p>
          <a:p>
            <a:pPr marL="0" indent="0">
              <a:buNone/>
            </a:pPr>
            <a:r>
              <a:rPr lang="en-US" sz="1050" dirty="0">
                <a:solidFill>
                  <a:srgbClr val="1B2B45"/>
                </a:solidFill>
                <a:latin typeface="Calibri" pitchFamily="34" charset="0"/>
                <a:ea typeface="Calibri" pitchFamily="34" charset="-122"/>
                <a:cs typeface="Calibri" pitchFamily="34" charset="-120"/>
              </a:rPr>
              <a:t>Detection_Time_Min and related measures</a:t>
            </a:r>
            <a:endParaRPr lang="en-US" sz="1200" dirty="0"/>
          </a:p>
        </p:txBody>
      </p:sp>
      <p:sp>
        <p:nvSpPr>
          <p:cNvPr id="19" name="Shape 17"/>
          <p:cNvSpPr/>
          <p:nvPr/>
        </p:nvSpPr>
        <p:spPr>
          <a:xfrm>
            <a:off x="457200" y="4096512"/>
            <a:ext cx="2697480" cy="804672"/>
          </a:xfrm>
          <a:prstGeom prst="roundRect">
            <a:avLst>
              <a:gd name="adj" fmla="val 6818"/>
            </a:avLst>
          </a:prstGeom>
          <a:solidFill>
            <a:srgbClr val="EAF2FC"/>
          </a:solidFill>
          <a:ln w="12700">
            <a:solidFill>
              <a:srgbClr val="C5D9F2"/>
            </a:solidFill>
            <a:prstDash val="solid"/>
          </a:ln>
        </p:spPr>
      </p:sp>
      <p:sp>
        <p:nvSpPr>
          <p:cNvPr id="20" name="Text 18"/>
          <p:cNvSpPr txBox="1"/>
          <p:nvPr/>
        </p:nvSpPr>
        <p:spPr>
          <a:xfrm>
            <a:off x="566928" y="4096512"/>
            <a:ext cx="2468880" cy="804672"/>
          </a:xfrm>
          <a:prstGeom prst="rect">
            <a:avLst/>
          </a:prstGeom>
          <a:noFill/>
          <a:ln/>
        </p:spPr>
        <p:txBody>
          <a:bodyPr wrap="square" lIns="0" tIns="0" rIns="0" bIns="0" rtlCol="0" anchor="ctr"/>
          <a:lstStyle/>
          <a:p>
            <a:pPr marL="0" indent="0">
              <a:buNone/>
            </a:pPr>
            <a:r>
              <a:rPr lang="en-US" sz="1200" b="1" dirty="0">
                <a:solidFill>
                  <a:srgbClr val="12315E"/>
                </a:solidFill>
                <a:latin typeface="Calibri" pitchFamily="34" charset="0"/>
                <a:ea typeface="Calibri" pitchFamily="34" charset="-122"/>
                <a:cs typeface="Calibri" pitchFamily="34" charset="-120"/>
              </a:rPr>
              <a:t>Response metrics</a:t>
            </a:r>
            <a:endParaRPr lang="en-US" sz="1200" dirty="0"/>
          </a:p>
          <a:p>
            <a:pPr marL="0" indent="0">
              <a:buNone/>
            </a:pPr>
            <a:r>
              <a:rPr lang="en-US" sz="1050" dirty="0">
                <a:solidFill>
                  <a:srgbClr val="1B2B45"/>
                </a:solidFill>
                <a:latin typeface="Calibri" pitchFamily="34" charset="0"/>
                <a:ea typeface="Calibri" pitchFamily="34" charset="-122"/>
                <a:cs typeface="Calibri" pitchFamily="34" charset="-120"/>
              </a:rPr>
              <a:t>Response_Time_Min and response categories</a:t>
            </a:r>
            <a:endParaRPr lang="en-US" sz="1200" dirty="0"/>
          </a:p>
        </p:txBody>
      </p:sp>
      <p:sp>
        <p:nvSpPr>
          <p:cNvPr id="21" name="Shape 19"/>
          <p:cNvSpPr/>
          <p:nvPr/>
        </p:nvSpPr>
        <p:spPr>
          <a:xfrm>
            <a:off x="3291840" y="4096512"/>
            <a:ext cx="2697480" cy="804672"/>
          </a:xfrm>
          <a:prstGeom prst="roundRect">
            <a:avLst>
              <a:gd name="adj" fmla="val 6818"/>
            </a:avLst>
          </a:prstGeom>
          <a:solidFill>
            <a:srgbClr val="EAF2FC"/>
          </a:solidFill>
          <a:ln w="12700">
            <a:solidFill>
              <a:srgbClr val="C5D9F2"/>
            </a:solidFill>
            <a:prstDash val="solid"/>
          </a:ln>
        </p:spPr>
      </p:sp>
      <p:sp>
        <p:nvSpPr>
          <p:cNvPr id="22" name="Text 20"/>
          <p:cNvSpPr txBox="1"/>
          <p:nvPr/>
        </p:nvSpPr>
        <p:spPr>
          <a:xfrm>
            <a:off x="3401568" y="4096512"/>
            <a:ext cx="2468880" cy="804672"/>
          </a:xfrm>
          <a:prstGeom prst="rect">
            <a:avLst/>
          </a:prstGeom>
          <a:noFill/>
          <a:ln/>
        </p:spPr>
        <p:txBody>
          <a:bodyPr wrap="square" lIns="0" tIns="0" rIns="0" bIns="0" rtlCol="0" anchor="ctr"/>
          <a:lstStyle/>
          <a:p>
            <a:pPr marL="0" indent="0">
              <a:buNone/>
            </a:pPr>
            <a:r>
              <a:rPr lang="en-US" sz="1200" b="1" dirty="0">
                <a:solidFill>
                  <a:srgbClr val="12315E"/>
                </a:solidFill>
                <a:latin typeface="Calibri" pitchFamily="34" charset="0"/>
                <a:ea typeface="Calibri" pitchFamily="34" charset="-122"/>
                <a:cs typeface="Calibri" pitchFamily="34" charset="-120"/>
              </a:rPr>
              <a:t>Financial impact</a:t>
            </a:r>
            <a:endParaRPr lang="en-US" sz="1200" dirty="0"/>
          </a:p>
          <a:p>
            <a:pPr marL="0" indent="0">
              <a:buNone/>
            </a:pPr>
            <a:r>
              <a:rPr lang="en-US" sz="1050" dirty="0">
                <a:solidFill>
                  <a:srgbClr val="1B2B45"/>
                </a:solidFill>
                <a:latin typeface="Calibri" pitchFamily="34" charset="0"/>
                <a:ea typeface="Calibri" pitchFamily="34" charset="-122"/>
                <a:cs typeface="Calibri" pitchFamily="34" charset="-120"/>
              </a:rPr>
              <a:t>Financial_Loss_USD and impact indicators</a:t>
            </a:r>
            <a:endParaRPr lang="en-US" sz="1200" dirty="0"/>
          </a:p>
        </p:txBody>
      </p:sp>
      <p:sp>
        <p:nvSpPr>
          <p:cNvPr id="23" name="Shape 21"/>
          <p:cNvSpPr/>
          <p:nvPr/>
        </p:nvSpPr>
        <p:spPr>
          <a:xfrm>
            <a:off x="457200" y="4992624"/>
            <a:ext cx="2697480" cy="804672"/>
          </a:xfrm>
          <a:prstGeom prst="roundRect">
            <a:avLst>
              <a:gd name="adj" fmla="val 6818"/>
            </a:avLst>
          </a:prstGeom>
          <a:solidFill>
            <a:srgbClr val="FFFFFF"/>
          </a:solidFill>
          <a:ln w="12700">
            <a:solidFill>
              <a:srgbClr val="C5D9F2"/>
            </a:solidFill>
            <a:prstDash val="solid"/>
          </a:ln>
        </p:spPr>
      </p:sp>
      <p:sp>
        <p:nvSpPr>
          <p:cNvPr id="24" name="Text 22"/>
          <p:cNvSpPr txBox="1"/>
          <p:nvPr/>
        </p:nvSpPr>
        <p:spPr>
          <a:xfrm>
            <a:off x="566928" y="4992624"/>
            <a:ext cx="2468880" cy="804672"/>
          </a:xfrm>
          <a:prstGeom prst="rect">
            <a:avLst/>
          </a:prstGeom>
          <a:noFill/>
          <a:ln/>
        </p:spPr>
        <p:txBody>
          <a:bodyPr wrap="square" lIns="0" tIns="0" rIns="0" bIns="0" rtlCol="0" anchor="ctr"/>
          <a:lstStyle/>
          <a:p>
            <a:pPr marL="0" indent="0">
              <a:buNone/>
            </a:pPr>
            <a:r>
              <a:rPr lang="en-US" sz="1200" b="1" dirty="0">
                <a:solidFill>
                  <a:srgbClr val="12315E"/>
                </a:solidFill>
                <a:latin typeface="Calibri" pitchFamily="34" charset="0"/>
                <a:ea typeface="Calibri" pitchFamily="34" charset="-122"/>
                <a:cs typeface="Calibri" pitchFamily="34" charset="-120"/>
              </a:rPr>
              <a:t>Recovery &amp; remediation</a:t>
            </a:r>
            <a:endParaRPr lang="en-US" sz="1200" dirty="0"/>
          </a:p>
          <a:p>
            <a:pPr marL="0" indent="0">
              <a:buNone/>
            </a:pPr>
            <a:r>
              <a:rPr lang="en-US" sz="1050" dirty="0">
                <a:solidFill>
                  <a:srgbClr val="1B2B45"/>
                </a:solidFill>
                <a:latin typeface="Calibri" pitchFamily="34" charset="0"/>
                <a:ea typeface="Calibri" pitchFamily="34" charset="-122"/>
                <a:cs typeface="Calibri" pitchFamily="34" charset="-120"/>
              </a:rPr>
              <a:t>Recovery_Cost_USD and recovery fields</a:t>
            </a:r>
            <a:endParaRPr lang="en-US" sz="1200" dirty="0"/>
          </a:p>
        </p:txBody>
      </p:sp>
      <p:sp>
        <p:nvSpPr>
          <p:cNvPr id="25" name="Shape 23"/>
          <p:cNvSpPr/>
          <p:nvPr/>
        </p:nvSpPr>
        <p:spPr>
          <a:xfrm>
            <a:off x="3291840" y="4992624"/>
            <a:ext cx="2697480" cy="804672"/>
          </a:xfrm>
          <a:prstGeom prst="roundRect">
            <a:avLst>
              <a:gd name="adj" fmla="val 6818"/>
            </a:avLst>
          </a:prstGeom>
          <a:solidFill>
            <a:srgbClr val="FFFFFF"/>
          </a:solidFill>
          <a:ln w="12700">
            <a:solidFill>
              <a:srgbClr val="C5D9F2"/>
            </a:solidFill>
            <a:prstDash val="solid"/>
          </a:ln>
        </p:spPr>
      </p:sp>
      <p:sp>
        <p:nvSpPr>
          <p:cNvPr id="26" name="Text 24"/>
          <p:cNvSpPr txBox="1"/>
          <p:nvPr/>
        </p:nvSpPr>
        <p:spPr>
          <a:xfrm>
            <a:off x="3401568" y="4992624"/>
            <a:ext cx="2468880" cy="804672"/>
          </a:xfrm>
          <a:prstGeom prst="rect">
            <a:avLst/>
          </a:prstGeom>
          <a:noFill/>
          <a:ln/>
        </p:spPr>
        <p:txBody>
          <a:bodyPr wrap="square" lIns="0" tIns="0" rIns="0" bIns="0" rtlCol="0" anchor="ctr"/>
          <a:lstStyle/>
          <a:p>
            <a:pPr marL="0" indent="0">
              <a:buNone/>
            </a:pPr>
            <a:r>
              <a:rPr lang="en-US" sz="1200" b="1" dirty="0">
                <a:solidFill>
                  <a:srgbClr val="12315E"/>
                </a:solidFill>
                <a:latin typeface="Calibri" pitchFamily="34" charset="0"/>
                <a:ea typeface="Calibri" pitchFamily="34" charset="-122"/>
                <a:cs typeface="Calibri" pitchFamily="34" charset="-120"/>
              </a:rPr>
              <a:t>Time &amp; incident context</a:t>
            </a:r>
            <a:endParaRPr lang="en-US" sz="1200" dirty="0"/>
          </a:p>
          <a:p>
            <a:pPr marL="0" indent="0">
              <a:buNone/>
            </a:pPr>
            <a:r>
              <a:rPr lang="en-US" sz="1050" dirty="0">
                <a:solidFill>
                  <a:srgbClr val="1B2B45"/>
                </a:solidFill>
                <a:latin typeface="Calibri" pitchFamily="34" charset="0"/>
                <a:ea typeface="Calibri" pitchFamily="34" charset="-122"/>
                <a:cs typeface="Calibri" pitchFamily="34" charset="-120"/>
              </a:rPr>
              <a:t>Timestamp and Incident_Time_Period</a:t>
            </a:r>
            <a:endParaRPr lang="en-US" sz="1200" dirty="0"/>
          </a:p>
        </p:txBody>
      </p:sp>
      <p:sp>
        <p:nvSpPr>
          <p:cNvPr id="27" name="Text 25"/>
          <p:cNvSpPr txBox="1"/>
          <p:nvPr/>
        </p:nvSpPr>
        <p:spPr>
          <a:xfrm>
            <a:off x="457200" y="5943600"/>
            <a:ext cx="5486400" cy="228600"/>
          </a:xfrm>
          <a:prstGeom prst="rect">
            <a:avLst/>
          </a:prstGeom>
          <a:noFill/>
          <a:ln/>
        </p:spPr>
        <p:txBody>
          <a:bodyPr wrap="square" lIns="0" tIns="0" rIns="0" bIns="0" rtlCol="0" anchor="ctr"/>
          <a:lstStyle/>
          <a:p>
            <a:pPr marL="0" indent="0">
              <a:buNone/>
            </a:pPr>
            <a:r>
              <a:rPr lang="en-US" sz="1000" dirty="0">
                <a:solidFill>
                  <a:srgbClr val="5B6B80"/>
                </a:solidFill>
                <a:latin typeface="Calibri" pitchFamily="34" charset="0"/>
                <a:ea typeface="Calibri" pitchFamily="34" charset="-122"/>
                <a:cs typeface="Calibri" pitchFamily="34" charset="-120"/>
              </a:rPr>
              <a:t>*50 original columns + 4 new derived columns.</a:t>
            </a:r>
            <a:endParaRPr lang="en-US" sz="1000" dirty="0"/>
          </a:p>
        </p:txBody>
      </p:sp>
      <p:sp>
        <p:nvSpPr>
          <p:cNvPr id="28" name="Shape 26"/>
          <p:cNvSpPr/>
          <p:nvPr/>
        </p:nvSpPr>
        <p:spPr>
          <a:xfrm>
            <a:off x="6263640" y="2926080"/>
            <a:ext cx="5468112" cy="3108960"/>
          </a:xfrm>
          <a:prstGeom prst="roundRect">
            <a:avLst>
              <a:gd name="adj" fmla="val 1765"/>
            </a:avLst>
          </a:prstGeom>
          <a:solidFill>
            <a:srgbClr val="EAF2FC"/>
          </a:solidFill>
          <a:ln w="12700">
            <a:solidFill>
              <a:srgbClr val="C5D9F2"/>
            </a:solidFill>
            <a:prstDash val="solid"/>
          </a:ln>
        </p:spPr>
      </p:sp>
      <p:sp>
        <p:nvSpPr>
          <p:cNvPr id="29" name="Text 27"/>
          <p:cNvSpPr txBox="1"/>
          <p:nvPr/>
        </p:nvSpPr>
        <p:spPr>
          <a:xfrm>
            <a:off x="6400800" y="2971800"/>
            <a:ext cx="5212080" cy="274320"/>
          </a:xfrm>
          <a:prstGeom prst="rect">
            <a:avLst/>
          </a:prstGeom>
          <a:noFill/>
          <a:ln/>
        </p:spPr>
        <p:txBody>
          <a:bodyPr wrap="square" lIns="0" tIns="0" rIns="0" bIns="0" rtlCol="0" anchor="ctr"/>
          <a:lstStyle/>
          <a:p>
            <a:pPr marL="0" indent="0">
              <a:buNone/>
            </a:pPr>
            <a:r>
              <a:rPr lang="en-US" sz="1200" b="1" dirty="0">
                <a:solidFill>
                  <a:srgbClr val="12315E"/>
                </a:solidFill>
                <a:latin typeface="Calibri" pitchFamily="34" charset="0"/>
                <a:ea typeface="Calibri" pitchFamily="34" charset="-122"/>
                <a:cs typeface="Calibri" pitchFamily="34" charset="-120"/>
              </a:rPr>
              <a:t>Dataset Preview (Sample Records)</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355080" y="3291840"/>
          <a:ext cx="5303520" cy="2221992"/>
        </p:xfrm>
        <a:graphic>
          <a:graphicData uri="http://schemas.openxmlformats.org/drawingml/2006/table">
            <a:tbl>
              <a:tblPr/>
              <a:tblGrid>
                <a:gridCol w="50292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585216">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841248">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246888">
                <a:tc>
                  <a:txBody>
                    <a:bodyPr/>
                    <a:lstStyle/>
                    <a:p>
                      <a:pPr marL="0" indent="0">
                        <a:buNone/>
                      </a:pPr>
                      <a:r>
                        <a:rPr lang="en-US" sz="700" b="1" dirty="0">
                          <a:solidFill>
                            <a:srgbClr val="FFFFFF"/>
                          </a:solidFill>
                          <a:latin typeface="Calibri" pitchFamily="34" charset="0"/>
                          <a:ea typeface="Calibri" pitchFamily="34" charset="-122"/>
                          <a:cs typeface="Calibri" pitchFamily="34" charset="-120"/>
                        </a:rPr>
                        <a:t>Incident_ID</a:t>
                      </a:r>
                      <a:endParaRPr lang="en-US" sz="70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1F5FBF"/>
                    </a:solidFill>
                  </a:tcPr>
                </a:tc>
                <a:tc>
                  <a:txBody>
                    <a:bodyPr/>
                    <a:lstStyle/>
                    <a:p>
                      <a:pPr marL="0" indent="0">
                        <a:buNone/>
                      </a:pPr>
                      <a:r>
                        <a:rPr lang="en-US" sz="700" b="1" dirty="0">
                          <a:solidFill>
                            <a:srgbClr val="FFFFFF"/>
                          </a:solidFill>
                          <a:latin typeface="Calibri" pitchFamily="34" charset="0"/>
                          <a:ea typeface="Calibri" pitchFamily="34" charset="-122"/>
                          <a:cs typeface="Calibri" pitchFamily="34" charset="-120"/>
                        </a:rPr>
                        <a:t>Timestamp</a:t>
                      </a:r>
                      <a:endParaRPr lang="en-US" sz="70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1F5FBF"/>
                    </a:solidFill>
                  </a:tcPr>
                </a:tc>
                <a:tc>
                  <a:txBody>
                    <a:bodyPr/>
                    <a:lstStyle/>
                    <a:p>
                      <a:pPr marL="0" indent="0">
                        <a:buNone/>
                      </a:pPr>
                      <a:r>
                        <a:rPr lang="en-US" sz="700" b="1" dirty="0">
                          <a:solidFill>
                            <a:srgbClr val="FFFFFF"/>
                          </a:solidFill>
                          <a:latin typeface="Calibri" pitchFamily="34" charset="0"/>
                          <a:ea typeface="Calibri" pitchFamily="34" charset="-122"/>
                          <a:cs typeface="Calibri" pitchFamily="34" charset="-120"/>
                        </a:rPr>
                        <a:t>Attack_Type</a:t>
                      </a:r>
                      <a:endParaRPr lang="en-US" sz="70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1F5FBF"/>
                    </a:solidFill>
                  </a:tcPr>
                </a:tc>
                <a:tc>
                  <a:txBody>
                    <a:bodyPr/>
                    <a:lstStyle/>
                    <a:p>
                      <a:pPr marL="0" indent="0">
                        <a:buNone/>
                      </a:pPr>
                      <a:r>
                        <a:rPr lang="en-US" sz="700" b="1" dirty="0">
                          <a:solidFill>
                            <a:srgbClr val="FFFFFF"/>
                          </a:solidFill>
                          <a:latin typeface="Calibri" pitchFamily="34" charset="0"/>
                          <a:ea typeface="Calibri" pitchFamily="34" charset="-122"/>
                          <a:cs typeface="Calibri" pitchFamily="34" charset="-120"/>
                        </a:rPr>
                        <a:t>Attack_Vector</a:t>
                      </a:r>
                      <a:endParaRPr lang="en-US" sz="70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1F5FBF"/>
                    </a:solidFill>
                  </a:tcPr>
                </a:tc>
                <a:tc>
                  <a:txBody>
                    <a:bodyPr/>
                    <a:lstStyle/>
                    <a:p>
                      <a:pPr marL="0" indent="0">
                        <a:buNone/>
                      </a:pPr>
                      <a:r>
                        <a:rPr lang="en-US" sz="700" b="1" dirty="0">
                          <a:solidFill>
                            <a:srgbClr val="FFFFFF"/>
                          </a:solidFill>
                          <a:latin typeface="Calibri" pitchFamily="34" charset="0"/>
                          <a:ea typeface="Calibri" pitchFamily="34" charset="-122"/>
                          <a:cs typeface="Calibri" pitchFamily="34" charset="-120"/>
                        </a:rPr>
                        <a:t>Detection_Time_Min</a:t>
                      </a:r>
                      <a:endParaRPr lang="en-US" sz="70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1F5FBF"/>
                    </a:solidFill>
                  </a:tcPr>
                </a:tc>
                <a:tc>
                  <a:txBody>
                    <a:bodyPr/>
                    <a:lstStyle/>
                    <a:p>
                      <a:pPr marL="0" indent="0">
                        <a:buNone/>
                      </a:pPr>
                      <a:r>
                        <a:rPr lang="en-US" sz="700" b="1" dirty="0">
                          <a:solidFill>
                            <a:srgbClr val="FFFFFF"/>
                          </a:solidFill>
                          <a:latin typeface="Calibri" pitchFamily="34" charset="0"/>
                          <a:ea typeface="Calibri" pitchFamily="34" charset="-122"/>
                          <a:cs typeface="Calibri" pitchFamily="34" charset="-120"/>
                        </a:rPr>
                        <a:t>Response_Time_Min</a:t>
                      </a:r>
                      <a:endParaRPr lang="en-US" sz="70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1F5FBF"/>
                    </a:solidFill>
                  </a:tcPr>
                </a:tc>
                <a:tc>
                  <a:txBody>
                    <a:bodyPr/>
                    <a:lstStyle/>
                    <a:p>
                      <a:pPr marL="0" indent="0">
                        <a:buNone/>
                      </a:pPr>
                      <a:r>
                        <a:rPr lang="en-US" sz="700" b="1" dirty="0">
                          <a:solidFill>
                            <a:srgbClr val="FFFFFF"/>
                          </a:solidFill>
                          <a:latin typeface="Calibri" pitchFamily="34" charset="0"/>
                          <a:ea typeface="Calibri" pitchFamily="34" charset="-122"/>
                          <a:cs typeface="Calibri" pitchFamily="34" charset="-120"/>
                        </a:rPr>
                        <a:t>Financial_Loss_USD</a:t>
                      </a:r>
                      <a:endParaRPr lang="en-US" sz="70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1F5FBF"/>
                    </a:solidFill>
                  </a:tcPr>
                </a:tc>
                <a:extLst>
                  <a:ext uri="{0D108BD9-81ED-4DB2-BD59-A6C34878D82A}">
                    <a16:rowId xmlns:a16="http://schemas.microsoft.com/office/drawing/2014/main" val="10000"/>
                  </a:ext>
                </a:extLst>
              </a:tr>
              <a:tr h="246888">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INC001</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2021-03-15 10:24</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Malware</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Email</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30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25000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INC002</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2021-04-02 14:11</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Phishing</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Email</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10000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extLst>
                  <a:ext uri="{0D108BD9-81ED-4DB2-BD59-A6C34878D82A}">
                    <a16:rowId xmlns:a16="http://schemas.microsoft.com/office/drawing/2014/main" val="10002"/>
                  </a:ext>
                </a:extLst>
              </a:tr>
              <a:tr h="246888">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INC003</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2021-05-18 09:45</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Ransomware</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Network</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240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50000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INC004</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2021-06-30 16:20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DDoS</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Network</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45</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8000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extLst>
                  <a:ext uri="{0D108BD9-81ED-4DB2-BD59-A6C34878D82A}">
                    <a16:rowId xmlns:a16="http://schemas.microsoft.com/office/drawing/2014/main" val="10004"/>
                  </a:ext>
                </a:extLst>
              </a:tr>
              <a:tr h="246888">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INC005</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2021-07-12 11:06</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Insider Threat</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Internal</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180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15000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6888">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INC006</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2021-08-21 08:13</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Phishing</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Web</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90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12000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extLst>
                  <a:ext uri="{0D108BD9-81ED-4DB2-BD59-A6C34878D82A}">
                    <a16:rowId xmlns:a16="http://schemas.microsoft.com/office/drawing/2014/main" val="10006"/>
                  </a:ext>
                </a:extLst>
              </a:tr>
              <a:tr h="246888">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INC007</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2021-09-09 13:50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Malware</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USB</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40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110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20000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6888">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INC008</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2021-10-14 17:32</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Data Breach</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Web</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90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300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750" dirty="0">
                          <a:solidFill>
                            <a:srgbClr val="1B2B45"/>
                          </a:solidFill>
                          <a:latin typeface="Calibri" pitchFamily="34" charset="0"/>
                          <a:ea typeface="Calibri" pitchFamily="34" charset="-122"/>
                          <a:cs typeface="Calibri" pitchFamily="34" charset="-120"/>
                        </a:rPr>
                        <a:t>75000</a:t>
                      </a:r>
                      <a:endParaRPr lang="en-US" sz="750" dirty="0">
                        <a:latin typeface="Calibri" charset="0"/>
                        <a:ea typeface="Calibri" charset="0"/>
                        <a:cs typeface="Calibri" charset="0"/>
                      </a:endParaRPr>
                    </a:p>
                  </a:txBody>
                  <a:tcPr marL="36576" marR="36576" marT="0" marB="0" anchor="ctr">
                    <a:lnL w="6350" cap="flat" cmpd="sng" algn="ctr">
                      <a:solidFill>
                        <a:srgbClr val="C5D9F2"/>
                      </a:solidFill>
                      <a:prstDash val="solid"/>
                      <a:round/>
                      <a:headEnd type="none" w="med" len="med"/>
                      <a:tailEnd type="none" w="med" len="med"/>
                    </a:lnL>
                    <a:lnR w="6350" cap="flat" cmpd="sng" algn="ctr">
                      <a:solidFill>
                        <a:srgbClr val="C5D9F2"/>
                      </a:solidFill>
                      <a:prstDash val="solid"/>
                      <a:round/>
                      <a:headEnd type="none" w="med" len="med"/>
                      <a:tailEnd type="none" w="med" len="med"/>
                    </a:lnR>
                    <a:lnT w="6350" cap="flat" cmpd="sng" algn="ctr">
                      <a:solidFill>
                        <a:srgbClr val="C5D9F2"/>
                      </a:solidFill>
                      <a:prstDash val="solid"/>
                      <a:round/>
                      <a:headEnd type="none" w="med" len="med"/>
                      <a:tailEnd type="none" w="med" len="med"/>
                    </a:lnT>
                    <a:lnB w="6350" cap="flat" cmpd="sng" algn="ctr">
                      <a:solidFill>
                        <a:srgbClr val="C5D9F2"/>
                      </a:solidFill>
                      <a:prstDash val="solid"/>
                      <a:round/>
                      <a:headEnd type="none" w="med" len="med"/>
                      <a:tailEnd type="none" w="med" len="med"/>
                    </a:lnB>
                    <a:solidFill>
                      <a:srgbClr val="EAF2FC"/>
                    </a:solidFill>
                  </a:tcPr>
                </a:tc>
                <a:extLst>
                  <a:ext uri="{0D108BD9-81ED-4DB2-BD59-A6C34878D82A}">
                    <a16:rowId xmlns:a16="http://schemas.microsoft.com/office/drawing/2014/main" val="10008"/>
                  </a:ext>
                </a:extLst>
              </a:tr>
            </a:tbl>
          </a:graphicData>
        </a:graphic>
      </p:graphicFrame>
      <p:sp>
        <p:nvSpPr>
          <p:cNvPr id="31" name="Text 28"/>
          <p:cNvSpPr txBox="1"/>
          <p:nvPr/>
        </p:nvSpPr>
        <p:spPr>
          <a:xfrm>
            <a:off x="6400800" y="5669280"/>
            <a:ext cx="5212080" cy="274320"/>
          </a:xfrm>
          <a:prstGeom prst="rect">
            <a:avLst/>
          </a:prstGeom>
          <a:noFill/>
          <a:ln/>
        </p:spPr>
        <p:txBody>
          <a:bodyPr wrap="square" lIns="0" tIns="0" rIns="0" bIns="0" rtlCol="0" anchor="ctr"/>
          <a:lstStyle/>
          <a:p>
            <a:pPr marL="0" indent="0" algn="ctr">
              <a:buNone/>
            </a:pPr>
            <a:r>
              <a:rPr lang="en-US" sz="1100" b="1" dirty="0">
                <a:solidFill>
                  <a:srgbClr val="12315E"/>
                </a:solidFill>
                <a:latin typeface="Calibri" pitchFamily="34" charset="0"/>
                <a:ea typeface="Calibri" pitchFamily="34" charset="-122"/>
                <a:cs typeface="Calibri" pitchFamily="34" charset="-120"/>
              </a:rPr>
              <a:t>Final structure: 100,000 rows × 53 columns*</a:t>
            </a:r>
            <a:endParaRPr lang="en-US" sz="1100" dirty="0"/>
          </a:p>
        </p:txBody>
      </p:sp>
      <p:sp>
        <p:nvSpPr>
          <p:cNvPr id="32" name="Text 29"/>
          <p:cNvSpPr txBox="1"/>
          <p:nvPr/>
        </p:nvSpPr>
        <p:spPr>
          <a:xfrm>
            <a:off x="457200" y="6455851"/>
            <a:ext cx="6400800" cy="256032"/>
          </a:xfrm>
          <a:prstGeom prst="rect">
            <a:avLst/>
          </a:prstGeom>
          <a:noFill/>
          <a:ln/>
        </p:spPr>
        <p:txBody>
          <a:bodyPr wrap="square" lIns="0" tIns="0" rIns="0" bIns="0" rtlCol="0" anchor="ctr"/>
          <a:lstStyle/>
          <a:p>
            <a:pPr marL="0" indent="0">
              <a:buNone/>
            </a:pPr>
            <a:r>
              <a:rPr lang="en-US" sz="900" b="1" dirty="0">
                <a:solidFill>
                  <a:srgbClr val="5B6B80"/>
                </a:solidFill>
                <a:latin typeface="Calibri" pitchFamily="34" charset="0"/>
                <a:ea typeface="Calibri" pitchFamily="34" charset="-122"/>
                <a:cs typeface="Calibri" pitchFamily="34" charset="-120"/>
              </a:rPr>
              <a:t>INFOSYS SPRINGBOARD 7.0  /  MILESTONE 1</a:t>
            </a:r>
            <a:endParaRPr lang="en-US" sz="900" dirty="0"/>
          </a:p>
        </p:txBody>
      </p:sp>
      <p:sp>
        <p:nvSpPr>
          <p:cNvPr id="33" name="Text 30"/>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PARI PATEL  •  04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566928"/>
            <a:ext cx="9509760" cy="640080"/>
          </a:xfrm>
          <a:prstGeom prst="rect">
            <a:avLst/>
          </a:prstGeom>
          <a:noFill/>
          <a:ln/>
        </p:spPr>
        <p:txBody>
          <a:bodyPr wrap="square" lIns="0" tIns="0" rIns="0" bIns="0" rtlCol="0" anchor="ctr"/>
          <a:lstStyle/>
          <a:p>
            <a:pPr marL="0" indent="0">
              <a:buNone/>
            </a:pPr>
            <a:r>
              <a:rPr lang="en-US" sz="3200" b="1" dirty="0">
                <a:solidFill>
                  <a:srgbClr val="12315E"/>
                </a:solidFill>
                <a:latin typeface="Calibri" pitchFamily="34" charset="0"/>
                <a:ea typeface="Calibri" pitchFamily="34" charset="-122"/>
                <a:cs typeface="Calibri" pitchFamily="34" charset="-120"/>
              </a:rPr>
              <a:t>Validation: Check Before You Analyse</a:t>
            </a:r>
            <a:endParaRPr lang="en-US" sz="3200" dirty="0"/>
          </a:p>
        </p:txBody>
      </p:sp>
      <p:sp>
        <p:nvSpPr>
          <p:cNvPr id="3" name="Shape 1"/>
          <p:cNvSpPr/>
          <p:nvPr/>
        </p:nvSpPr>
        <p:spPr>
          <a:xfrm>
            <a:off x="457200" y="1417320"/>
            <a:ext cx="6583680" cy="384048"/>
          </a:xfrm>
          <a:prstGeom prst="rect">
            <a:avLst/>
          </a:prstGeom>
          <a:solidFill>
            <a:srgbClr val="EAF2FC"/>
          </a:solidFill>
          <a:ln w="12700">
            <a:solidFill>
              <a:srgbClr val="EAF2FC"/>
            </a:solidFill>
            <a:prstDash val="solid"/>
          </a:ln>
        </p:spPr>
      </p:sp>
      <p:sp>
        <p:nvSpPr>
          <p:cNvPr id="4" name="Text 2"/>
          <p:cNvSpPr txBox="1"/>
          <p:nvPr/>
        </p:nvSpPr>
        <p:spPr>
          <a:xfrm>
            <a:off x="594360" y="1417320"/>
            <a:ext cx="6309360" cy="384048"/>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VALIDATION CHECKLIST</a:t>
            </a:r>
            <a:endParaRPr lang="en-US" sz="1400" dirty="0"/>
          </a:p>
        </p:txBody>
      </p:sp>
      <p:sp>
        <p:nvSpPr>
          <p:cNvPr id="5" name="Shape 3"/>
          <p:cNvSpPr/>
          <p:nvPr/>
        </p:nvSpPr>
        <p:spPr>
          <a:xfrm>
            <a:off x="457200" y="1920240"/>
            <a:ext cx="6583680" cy="768096"/>
          </a:xfrm>
          <a:prstGeom prst="roundRect">
            <a:avLst>
              <a:gd name="adj" fmla="val 7143"/>
            </a:avLst>
          </a:prstGeom>
          <a:solidFill>
            <a:srgbClr val="EAF2FC"/>
          </a:solidFill>
          <a:ln w="12700">
            <a:solidFill>
              <a:srgbClr val="C5D9F2"/>
            </a:solidFill>
            <a:prstDash val="solid"/>
          </a:ln>
        </p:spPr>
      </p:sp>
      <p:sp>
        <p:nvSpPr>
          <p:cNvPr id="6" name="Shape 4"/>
          <p:cNvSpPr/>
          <p:nvPr/>
        </p:nvSpPr>
        <p:spPr>
          <a:xfrm>
            <a:off x="640080" y="2093976"/>
            <a:ext cx="420624" cy="420624"/>
          </a:xfrm>
          <a:prstGeom prst="ellipse">
            <a:avLst/>
          </a:prstGeom>
          <a:solidFill>
            <a:srgbClr val="1F5FBF"/>
          </a:solidFill>
          <a:ln w="12700">
            <a:solidFill>
              <a:srgbClr val="1F5FBF"/>
            </a:solidFill>
            <a:prstDash val="solid"/>
          </a:ln>
        </p:spPr>
      </p:sp>
      <p:sp>
        <p:nvSpPr>
          <p:cNvPr id="7" name="Text 5"/>
          <p:cNvSpPr txBox="1"/>
          <p:nvPr/>
        </p:nvSpPr>
        <p:spPr>
          <a:xfrm>
            <a:off x="640080" y="209397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pic>
        <p:nvPicPr>
          <p:cNvPr id="8" name="Image 0" descr="preencoded.png"/>
          <p:cNvPicPr>
            <a:picLocks noChangeAspect="1"/>
          </p:cNvPicPr>
          <p:nvPr/>
        </p:nvPicPr>
        <p:blipFill>
          <a:blip r:embed="rId3"/>
          <a:stretch>
            <a:fillRect/>
          </a:stretch>
        </p:blipFill>
        <p:spPr>
          <a:xfrm>
            <a:off x="1280160" y="2139696"/>
            <a:ext cx="329184" cy="329184"/>
          </a:xfrm>
          <a:prstGeom prst="rect">
            <a:avLst/>
          </a:prstGeom>
        </p:spPr>
      </p:pic>
      <p:sp>
        <p:nvSpPr>
          <p:cNvPr id="9" name="Text 6"/>
          <p:cNvSpPr txBox="1"/>
          <p:nvPr/>
        </p:nvSpPr>
        <p:spPr>
          <a:xfrm>
            <a:off x="1828800" y="1920240"/>
            <a:ext cx="5120640" cy="768096"/>
          </a:xfrm>
          <a:prstGeom prst="rect">
            <a:avLst/>
          </a:prstGeom>
          <a:noFill/>
          <a:ln/>
        </p:spPr>
        <p:txBody>
          <a:bodyPr wrap="square" lIns="0" tIns="0" rIns="0" bIns="0" rtlCol="0" anchor="ctr"/>
          <a:lstStyle/>
          <a:p>
            <a:pPr marL="0" indent="0">
              <a:buNone/>
            </a:pPr>
            <a:r>
              <a:rPr lang="en-US" sz="1400" b="1" dirty="0">
                <a:solidFill>
                  <a:srgbClr val="12315E"/>
                </a:solidFill>
                <a:latin typeface="Calibri" pitchFamily="34" charset="0"/>
                <a:ea typeface="Calibri" pitchFamily="34" charset="-122"/>
                <a:cs typeface="Calibri" pitchFamily="34" charset="-120"/>
              </a:rPr>
              <a:t>Numerical values</a:t>
            </a:r>
            <a:endParaRPr lang="en-US" sz="1400" dirty="0"/>
          </a:p>
          <a:p>
            <a:pPr marL="0" indent="0">
              <a:buNone/>
            </a:pPr>
            <a:r>
              <a:rPr lang="en-US" sz="1150" dirty="0">
                <a:solidFill>
                  <a:srgbClr val="1B2B45"/>
                </a:solidFill>
                <a:latin typeface="Calibri" pitchFamily="34" charset="0"/>
                <a:ea typeface="Calibri" pitchFamily="34" charset="-122"/>
                <a:cs typeface="Calibri" pitchFamily="34" charset="-120"/>
              </a:rPr>
              <a:t>Review numerical values and invalid entries.</a:t>
            </a:r>
            <a:endParaRPr lang="en-US" sz="1400" dirty="0"/>
          </a:p>
        </p:txBody>
      </p:sp>
      <p:sp>
        <p:nvSpPr>
          <p:cNvPr id="10" name="Shape 7"/>
          <p:cNvSpPr/>
          <p:nvPr/>
        </p:nvSpPr>
        <p:spPr>
          <a:xfrm>
            <a:off x="457200" y="2779776"/>
            <a:ext cx="6583680" cy="768096"/>
          </a:xfrm>
          <a:prstGeom prst="roundRect">
            <a:avLst>
              <a:gd name="adj" fmla="val 7143"/>
            </a:avLst>
          </a:prstGeom>
          <a:solidFill>
            <a:srgbClr val="FFFFFF"/>
          </a:solidFill>
          <a:ln w="12700">
            <a:solidFill>
              <a:srgbClr val="C5D9F2"/>
            </a:solidFill>
            <a:prstDash val="solid"/>
          </a:ln>
        </p:spPr>
      </p:sp>
      <p:sp>
        <p:nvSpPr>
          <p:cNvPr id="11" name="Shape 8"/>
          <p:cNvSpPr/>
          <p:nvPr/>
        </p:nvSpPr>
        <p:spPr>
          <a:xfrm>
            <a:off x="640080" y="2953512"/>
            <a:ext cx="420624" cy="420624"/>
          </a:xfrm>
          <a:prstGeom prst="ellipse">
            <a:avLst/>
          </a:prstGeom>
          <a:solidFill>
            <a:srgbClr val="1F5FBF"/>
          </a:solidFill>
          <a:ln w="12700">
            <a:solidFill>
              <a:srgbClr val="1F5FBF"/>
            </a:solidFill>
            <a:prstDash val="solid"/>
          </a:ln>
        </p:spPr>
      </p:sp>
      <p:sp>
        <p:nvSpPr>
          <p:cNvPr id="12" name="Text 9"/>
          <p:cNvSpPr txBox="1"/>
          <p:nvPr/>
        </p:nvSpPr>
        <p:spPr>
          <a:xfrm>
            <a:off x="640080" y="29535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pic>
        <p:nvPicPr>
          <p:cNvPr id="13" name="Image 1" descr="preencoded.png"/>
          <p:cNvPicPr>
            <a:picLocks noChangeAspect="1"/>
          </p:cNvPicPr>
          <p:nvPr/>
        </p:nvPicPr>
        <p:blipFill>
          <a:blip r:embed="rId4"/>
          <a:stretch>
            <a:fillRect/>
          </a:stretch>
        </p:blipFill>
        <p:spPr>
          <a:xfrm>
            <a:off x="1280160" y="2999232"/>
            <a:ext cx="329184" cy="329184"/>
          </a:xfrm>
          <a:prstGeom prst="rect">
            <a:avLst/>
          </a:prstGeom>
        </p:spPr>
      </p:pic>
      <p:sp>
        <p:nvSpPr>
          <p:cNvPr id="14" name="Text 10"/>
          <p:cNvSpPr txBox="1"/>
          <p:nvPr/>
        </p:nvSpPr>
        <p:spPr>
          <a:xfrm>
            <a:off x="1828800" y="2779776"/>
            <a:ext cx="5120640" cy="768096"/>
          </a:xfrm>
          <a:prstGeom prst="rect">
            <a:avLst/>
          </a:prstGeom>
          <a:noFill/>
          <a:ln/>
        </p:spPr>
        <p:txBody>
          <a:bodyPr wrap="square" lIns="0" tIns="0" rIns="0" bIns="0" rtlCol="0" anchor="ctr"/>
          <a:lstStyle/>
          <a:p>
            <a:pPr marL="0" indent="0">
              <a:buNone/>
            </a:pPr>
            <a:r>
              <a:rPr lang="en-US" sz="1400" b="1" dirty="0">
                <a:solidFill>
                  <a:srgbClr val="12315E"/>
                </a:solidFill>
                <a:latin typeface="Calibri" pitchFamily="34" charset="0"/>
                <a:ea typeface="Calibri" pitchFamily="34" charset="-122"/>
                <a:cs typeface="Calibri" pitchFamily="34" charset="-120"/>
              </a:rPr>
              <a:t>Missing information</a:t>
            </a:r>
            <a:endParaRPr lang="en-US" sz="1400" dirty="0"/>
          </a:p>
          <a:p>
            <a:pPr marL="0" indent="0">
              <a:buNone/>
            </a:pPr>
            <a:r>
              <a:rPr lang="en-US" sz="1150" dirty="0">
                <a:solidFill>
                  <a:srgbClr val="1B2B45"/>
                </a:solidFill>
                <a:latin typeface="Calibri" pitchFamily="34" charset="0"/>
                <a:ea typeface="Calibri" pitchFamily="34" charset="-122"/>
                <a:cs typeface="Calibri" pitchFamily="34" charset="-120"/>
              </a:rPr>
              <a:t>Keep unknown values distinct from genuine zero values.</a:t>
            </a:r>
            <a:endParaRPr lang="en-US" sz="1400" dirty="0"/>
          </a:p>
        </p:txBody>
      </p:sp>
      <p:sp>
        <p:nvSpPr>
          <p:cNvPr id="15" name="Shape 11"/>
          <p:cNvSpPr/>
          <p:nvPr/>
        </p:nvSpPr>
        <p:spPr>
          <a:xfrm>
            <a:off x="457200" y="3639312"/>
            <a:ext cx="6583680" cy="768096"/>
          </a:xfrm>
          <a:prstGeom prst="roundRect">
            <a:avLst>
              <a:gd name="adj" fmla="val 7143"/>
            </a:avLst>
          </a:prstGeom>
          <a:solidFill>
            <a:srgbClr val="EAF2FC"/>
          </a:solidFill>
          <a:ln w="12700">
            <a:solidFill>
              <a:srgbClr val="C5D9F2"/>
            </a:solidFill>
            <a:prstDash val="solid"/>
          </a:ln>
        </p:spPr>
      </p:sp>
      <p:sp>
        <p:nvSpPr>
          <p:cNvPr id="16" name="Shape 12"/>
          <p:cNvSpPr/>
          <p:nvPr/>
        </p:nvSpPr>
        <p:spPr>
          <a:xfrm>
            <a:off x="640080" y="3813048"/>
            <a:ext cx="420624" cy="420624"/>
          </a:xfrm>
          <a:prstGeom prst="ellipse">
            <a:avLst/>
          </a:prstGeom>
          <a:solidFill>
            <a:srgbClr val="1F5FBF"/>
          </a:solidFill>
          <a:ln w="12700">
            <a:solidFill>
              <a:srgbClr val="1F5FBF"/>
            </a:solidFill>
            <a:prstDash val="solid"/>
          </a:ln>
        </p:spPr>
      </p:sp>
      <p:sp>
        <p:nvSpPr>
          <p:cNvPr id="17" name="Text 13"/>
          <p:cNvSpPr txBox="1"/>
          <p:nvPr/>
        </p:nvSpPr>
        <p:spPr>
          <a:xfrm>
            <a:off x="640080" y="38130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pic>
        <p:nvPicPr>
          <p:cNvPr id="18" name="Image 2" descr="preencoded.png"/>
          <p:cNvPicPr>
            <a:picLocks noChangeAspect="1"/>
          </p:cNvPicPr>
          <p:nvPr/>
        </p:nvPicPr>
        <p:blipFill>
          <a:blip r:embed="rId5"/>
          <a:stretch>
            <a:fillRect/>
          </a:stretch>
        </p:blipFill>
        <p:spPr>
          <a:xfrm>
            <a:off x="1280160" y="3858768"/>
            <a:ext cx="329184" cy="329184"/>
          </a:xfrm>
          <a:prstGeom prst="rect">
            <a:avLst/>
          </a:prstGeom>
        </p:spPr>
      </p:pic>
      <p:sp>
        <p:nvSpPr>
          <p:cNvPr id="19" name="Text 14"/>
          <p:cNvSpPr txBox="1"/>
          <p:nvPr/>
        </p:nvSpPr>
        <p:spPr>
          <a:xfrm>
            <a:off x="1828800" y="3639312"/>
            <a:ext cx="5120640" cy="768096"/>
          </a:xfrm>
          <a:prstGeom prst="rect">
            <a:avLst/>
          </a:prstGeom>
          <a:noFill/>
          <a:ln/>
        </p:spPr>
        <p:txBody>
          <a:bodyPr wrap="square" lIns="0" tIns="0" rIns="0" bIns="0" rtlCol="0" anchor="ctr"/>
          <a:lstStyle/>
          <a:p>
            <a:pPr marL="0" indent="0">
              <a:buNone/>
            </a:pPr>
            <a:r>
              <a:rPr lang="en-US" sz="1400" b="1" dirty="0">
                <a:solidFill>
                  <a:srgbClr val="12315E"/>
                </a:solidFill>
                <a:latin typeface="Calibri" pitchFamily="34" charset="0"/>
                <a:ea typeface="Calibri" pitchFamily="34" charset="-122"/>
                <a:cs typeface="Calibri" pitchFamily="34" charset="-120"/>
              </a:rPr>
              <a:t>Date and time</a:t>
            </a:r>
            <a:endParaRPr lang="en-US" sz="1400" dirty="0"/>
          </a:p>
          <a:p>
            <a:pPr marL="0" indent="0">
              <a:buNone/>
            </a:pPr>
            <a:r>
              <a:rPr lang="en-US" sz="1150" dirty="0">
                <a:solidFill>
                  <a:srgbClr val="1B2B45"/>
                </a:solidFill>
                <a:latin typeface="Calibri" pitchFamily="34" charset="0"/>
                <a:ea typeface="Calibri" pitchFamily="34" charset="-122"/>
                <a:cs typeface="Calibri" pitchFamily="34" charset="-120"/>
              </a:rPr>
              <a:t>Check timestamps and related fields for consistency.</a:t>
            </a:r>
            <a:endParaRPr lang="en-US" sz="1400" dirty="0"/>
          </a:p>
        </p:txBody>
      </p:sp>
      <p:sp>
        <p:nvSpPr>
          <p:cNvPr id="20" name="Shape 15"/>
          <p:cNvSpPr/>
          <p:nvPr/>
        </p:nvSpPr>
        <p:spPr>
          <a:xfrm>
            <a:off x="457200" y="4498848"/>
            <a:ext cx="6583680" cy="768096"/>
          </a:xfrm>
          <a:prstGeom prst="roundRect">
            <a:avLst>
              <a:gd name="adj" fmla="val 7143"/>
            </a:avLst>
          </a:prstGeom>
          <a:solidFill>
            <a:srgbClr val="FFFFFF"/>
          </a:solidFill>
          <a:ln w="12700">
            <a:solidFill>
              <a:srgbClr val="C5D9F2"/>
            </a:solidFill>
            <a:prstDash val="solid"/>
          </a:ln>
        </p:spPr>
      </p:sp>
      <p:sp>
        <p:nvSpPr>
          <p:cNvPr id="21" name="Shape 16"/>
          <p:cNvSpPr/>
          <p:nvPr/>
        </p:nvSpPr>
        <p:spPr>
          <a:xfrm>
            <a:off x="640080" y="4672584"/>
            <a:ext cx="420624" cy="420624"/>
          </a:xfrm>
          <a:prstGeom prst="ellipse">
            <a:avLst/>
          </a:prstGeom>
          <a:solidFill>
            <a:srgbClr val="1F5FBF"/>
          </a:solidFill>
          <a:ln w="12700">
            <a:solidFill>
              <a:srgbClr val="1F5FBF"/>
            </a:solidFill>
            <a:prstDash val="solid"/>
          </a:ln>
        </p:spPr>
      </p:sp>
      <p:sp>
        <p:nvSpPr>
          <p:cNvPr id="22" name="Text 17"/>
          <p:cNvSpPr txBox="1"/>
          <p:nvPr/>
        </p:nvSpPr>
        <p:spPr>
          <a:xfrm>
            <a:off x="640080" y="46725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pic>
        <p:nvPicPr>
          <p:cNvPr id="23" name="Image 3" descr="preencoded.png"/>
          <p:cNvPicPr>
            <a:picLocks noChangeAspect="1"/>
          </p:cNvPicPr>
          <p:nvPr/>
        </p:nvPicPr>
        <p:blipFill>
          <a:blip r:embed="rId6"/>
          <a:stretch>
            <a:fillRect/>
          </a:stretch>
        </p:blipFill>
        <p:spPr>
          <a:xfrm>
            <a:off x="1280160" y="4718304"/>
            <a:ext cx="329184" cy="329184"/>
          </a:xfrm>
          <a:prstGeom prst="rect">
            <a:avLst/>
          </a:prstGeom>
        </p:spPr>
      </p:pic>
      <p:sp>
        <p:nvSpPr>
          <p:cNvPr id="24" name="Text 18"/>
          <p:cNvSpPr txBox="1"/>
          <p:nvPr/>
        </p:nvSpPr>
        <p:spPr>
          <a:xfrm>
            <a:off x="1828800" y="4498848"/>
            <a:ext cx="5120640" cy="768096"/>
          </a:xfrm>
          <a:prstGeom prst="rect">
            <a:avLst/>
          </a:prstGeom>
          <a:noFill/>
          <a:ln/>
        </p:spPr>
        <p:txBody>
          <a:bodyPr wrap="square" lIns="0" tIns="0" rIns="0" bIns="0" rtlCol="0" anchor="ctr"/>
          <a:lstStyle/>
          <a:p>
            <a:pPr marL="0" indent="0">
              <a:buNone/>
            </a:pPr>
            <a:r>
              <a:rPr lang="en-US" sz="1400" b="1" dirty="0">
                <a:solidFill>
                  <a:srgbClr val="12315E"/>
                </a:solidFill>
                <a:latin typeface="Calibri" pitchFamily="34" charset="0"/>
                <a:ea typeface="Calibri" pitchFamily="34" charset="-122"/>
                <a:cs typeface="Calibri" pitchFamily="34" charset="-120"/>
              </a:rPr>
              <a:t>Data types</a:t>
            </a:r>
            <a:endParaRPr lang="en-US" sz="1400" dirty="0"/>
          </a:p>
          <a:p>
            <a:pPr marL="0" indent="0">
              <a:buNone/>
            </a:pPr>
            <a:r>
              <a:rPr lang="en-US" sz="1150" dirty="0">
                <a:solidFill>
                  <a:srgbClr val="1B2B45"/>
                </a:solidFill>
                <a:latin typeface="Calibri" pitchFamily="34" charset="0"/>
                <a:ea typeface="Calibri" pitchFamily="34" charset="-122"/>
                <a:cs typeface="Calibri" pitchFamily="34" charset="-120"/>
              </a:rPr>
              <a:t>Review suitable types for relevant columns.</a:t>
            </a:r>
            <a:endParaRPr lang="en-US" sz="1400" dirty="0"/>
          </a:p>
        </p:txBody>
      </p:sp>
      <p:sp>
        <p:nvSpPr>
          <p:cNvPr id="25" name="Shape 19"/>
          <p:cNvSpPr/>
          <p:nvPr/>
        </p:nvSpPr>
        <p:spPr>
          <a:xfrm>
            <a:off x="457200" y="5358384"/>
            <a:ext cx="6583680" cy="768096"/>
          </a:xfrm>
          <a:prstGeom prst="roundRect">
            <a:avLst>
              <a:gd name="adj" fmla="val 7143"/>
            </a:avLst>
          </a:prstGeom>
          <a:solidFill>
            <a:srgbClr val="EAF2FC"/>
          </a:solidFill>
          <a:ln w="12700">
            <a:solidFill>
              <a:srgbClr val="C5D9F2"/>
            </a:solidFill>
            <a:prstDash val="solid"/>
          </a:ln>
        </p:spPr>
      </p:sp>
      <p:sp>
        <p:nvSpPr>
          <p:cNvPr id="26" name="Shape 20"/>
          <p:cNvSpPr/>
          <p:nvPr/>
        </p:nvSpPr>
        <p:spPr>
          <a:xfrm>
            <a:off x="640080" y="5532120"/>
            <a:ext cx="420624" cy="420624"/>
          </a:xfrm>
          <a:prstGeom prst="ellipse">
            <a:avLst/>
          </a:prstGeom>
          <a:solidFill>
            <a:srgbClr val="1F5FBF"/>
          </a:solidFill>
          <a:ln w="12700">
            <a:solidFill>
              <a:srgbClr val="1F5FBF"/>
            </a:solidFill>
            <a:prstDash val="solid"/>
          </a:ln>
        </p:spPr>
      </p:sp>
      <p:sp>
        <p:nvSpPr>
          <p:cNvPr id="27" name="Text 21"/>
          <p:cNvSpPr txBox="1"/>
          <p:nvPr/>
        </p:nvSpPr>
        <p:spPr>
          <a:xfrm>
            <a:off x="640080" y="55321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pic>
        <p:nvPicPr>
          <p:cNvPr id="28" name="Image 4" descr="preencoded.png"/>
          <p:cNvPicPr>
            <a:picLocks noChangeAspect="1"/>
          </p:cNvPicPr>
          <p:nvPr/>
        </p:nvPicPr>
        <p:blipFill>
          <a:blip r:embed="rId7"/>
          <a:stretch>
            <a:fillRect/>
          </a:stretch>
        </p:blipFill>
        <p:spPr>
          <a:xfrm>
            <a:off x="1280160" y="5577840"/>
            <a:ext cx="329184" cy="329184"/>
          </a:xfrm>
          <a:prstGeom prst="rect">
            <a:avLst/>
          </a:prstGeom>
        </p:spPr>
      </p:pic>
      <p:sp>
        <p:nvSpPr>
          <p:cNvPr id="29" name="Text 22"/>
          <p:cNvSpPr txBox="1"/>
          <p:nvPr/>
        </p:nvSpPr>
        <p:spPr>
          <a:xfrm>
            <a:off x="1828800" y="5358384"/>
            <a:ext cx="5120640" cy="768096"/>
          </a:xfrm>
          <a:prstGeom prst="rect">
            <a:avLst/>
          </a:prstGeom>
          <a:noFill/>
          <a:ln/>
        </p:spPr>
        <p:txBody>
          <a:bodyPr wrap="square" lIns="0" tIns="0" rIns="0" bIns="0" rtlCol="0" anchor="ctr"/>
          <a:lstStyle/>
          <a:p>
            <a:pPr marL="0" indent="0">
              <a:buNone/>
            </a:pPr>
            <a:r>
              <a:rPr lang="en-US" sz="1400" b="1" dirty="0">
                <a:solidFill>
                  <a:srgbClr val="12315E"/>
                </a:solidFill>
                <a:latin typeface="Calibri" pitchFamily="34" charset="0"/>
                <a:ea typeface="Calibri" pitchFamily="34" charset="-122"/>
                <a:cs typeface="Calibri" pitchFamily="34" charset="-120"/>
              </a:rPr>
              <a:t>Outliers</a:t>
            </a:r>
            <a:endParaRPr lang="en-US" sz="1400" dirty="0"/>
          </a:p>
          <a:p>
            <a:pPr marL="0" indent="0">
              <a:buNone/>
            </a:pPr>
            <a:r>
              <a:rPr lang="en-US" sz="1150" dirty="0">
                <a:solidFill>
                  <a:srgbClr val="1B2B45"/>
                </a:solidFill>
                <a:latin typeface="Calibri" pitchFamily="34" charset="0"/>
                <a:ea typeface="Calibri" pitchFamily="34" charset="-122"/>
                <a:cs typeface="Calibri" pitchFamily="34" charset="-120"/>
              </a:rPr>
              <a:t>Assess unusual values in context; do not remove automatically.</a:t>
            </a:r>
            <a:endParaRPr lang="en-US" sz="1400" dirty="0"/>
          </a:p>
        </p:txBody>
      </p:sp>
      <p:sp>
        <p:nvSpPr>
          <p:cNvPr id="30" name="Shape 23"/>
          <p:cNvSpPr/>
          <p:nvPr/>
        </p:nvSpPr>
        <p:spPr>
          <a:xfrm>
            <a:off x="7406640" y="1417320"/>
            <a:ext cx="4343400" cy="384048"/>
          </a:xfrm>
          <a:prstGeom prst="rect">
            <a:avLst/>
          </a:prstGeom>
          <a:solidFill>
            <a:srgbClr val="EAF2FC"/>
          </a:solidFill>
          <a:ln w="12700">
            <a:solidFill>
              <a:srgbClr val="EAF2FC"/>
            </a:solidFill>
            <a:prstDash val="solid"/>
          </a:ln>
        </p:spPr>
      </p:sp>
      <p:sp>
        <p:nvSpPr>
          <p:cNvPr id="31" name="Text 24"/>
          <p:cNvSpPr txBox="1"/>
          <p:nvPr/>
        </p:nvSpPr>
        <p:spPr>
          <a:xfrm>
            <a:off x="7543800" y="1417320"/>
            <a:ext cx="4069080" cy="384048"/>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APPLIED STEPS</a:t>
            </a:r>
            <a:endParaRPr lang="en-US" sz="1400" dirty="0"/>
          </a:p>
        </p:txBody>
      </p:sp>
      <p:sp>
        <p:nvSpPr>
          <p:cNvPr id="32" name="Shape 25"/>
          <p:cNvSpPr/>
          <p:nvPr/>
        </p:nvSpPr>
        <p:spPr>
          <a:xfrm>
            <a:off x="7406640" y="1920240"/>
            <a:ext cx="4343400" cy="4206240"/>
          </a:xfrm>
          <a:prstGeom prst="roundRect">
            <a:avLst>
              <a:gd name="adj" fmla="val 1304"/>
            </a:avLst>
          </a:prstGeom>
          <a:solidFill>
            <a:srgbClr val="EAF2FC"/>
          </a:solidFill>
          <a:ln w="12700">
            <a:solidFill>
              <a:srgbClr val="C5D9F2"/>
            </a:solidFill>
            <a:prstDash val="solid"/>
          </a:ln>
        </p:spPr>
      </p:sp>
      <p:pic>
        <p:nvPicPr>
          <p:cNvPr id="33" name="Image 5" descr="steps.png"/>
          <p:cNvPicPr>
            <a:picLocks noChangeAspect="1"/>
          </p:cNvPicPr>
          <p:nvPr/>
        </p:nvPicPr>
        <p:blipFill>
          <a:blip r:embed="rId8"/>
          <a:srcRect/>
          <a:stretch/>
        </p:blipFill>
        <p:spPr>
          <a:xfrm>
            <a:off x="8572500" y="2057400"/>
            <a:ext cx="2011680" cy="3931920"/>
          </a:xfrm>
          <a:prstGeom prst="rect">
            <a:avLst/>
          </a:prstGeom>
        </p:spPr>
      </p:pic>
      <p:sp>
        <p:nvSpPr>
          <p:cNvPr id="34" name="Text 26"/>
          <p:cNvSpPr txBox="1"/>
          <p:nvPr/>
        </p:nvSpPr>
        <p:spPr>
          <a:xfrm>
            <a:off x="457200" y="6446520"/>
            <a:ext cx="6400800" cy="256032"/>
          </a:xfrm>
          <a:prstGeom prst="rect">
            <a:avLst/>
          </a:prstGeom>
          <a:noFill/>
          <a:ln/>
        </p:spPr>
        <p:txBody>
          <a:bodyPr wrap="square" lIns="0" tIns="0" rIns="0" bIns="0" rtlCol="0" anchor="ctr"/>
          <a:lstStyle/>
          <a:p>
            <a:pPr marL="0" indent="0">
              <a:buNone/>
            </a:pPr>
            <a:r>
              <a:rPr lang="en-US" sz="900" b="1" dirty="0">
                <a:solidFill>
                  <a:srgbClr val="5B6B80"/>
                </a:solidFill>
                <a:latin typeface="Calibri" pitchFamily="34" charset="0"/>
                <a:ea typeface="Calibri" pitchFamily="34" charset="-122"/>
                <a:cs typeface="Calibri" pitchFamily="34" charset="-120"/>
              </a:rPr>
              <a:t>INFOSYS SPRINGBOARD 7.0  /  MILESTONE 1</a:t>
            </a:r>
            <a:endParaRPr lang="en-US" sz="900" dirty="0"/>
          </a:p>
        </p:txBody>
      </p:sp>
      <p:sp>
        <p:nvSpPr>
          <p:cNvPr id="35" name="Text 27"/>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PARI PATEL  •  06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566928"/>
            <a:ext cx="9509760" cy="640080"/>
          </a:xfrm>
          <a:prstGeom prst="rect">
            <a:avLst/>
          </a:prstGeom>
          <a:noFill/>
          <a:ln/>
        </p:spPr>
        <p:txBody>
          <a:bodyPr wrap="square" lIns="0" tIns="0" rIns="0" bIns="0" rtlCol="0" anchor="ctr"/>
          <a:lstStyle/>
          <a:p>
            <a:pPr marL="0" indent="0">
              <a:buNone/>
            </a:pPr>
            <a:r>
              <a:rPr lang="en-US" sz="3200" b="1" dirty="0">
                <a:solidFill>
                  <a:srgbClr val="12315E"/>
                </a:solidFill>
                <a:latin typeface="Calibri" pitchFamily="34" charset="0"/>
                <a:ea typeface="Calibri" pitchFamily="34" charset="-122"/>
                <a:cs typeface="Calibri" pitchFamily="34" charset="-120"/>
              </a:rPr>
              <a:t>Feature Engineering: Three Added Columns</a:t>
            </a:r>
            <a:endParaRPr lang="en-US" sz="3200" dirty="0"/>
          </a:p>
        </p:txBody>
      </p:sp>
      <p:sp>
        <p:nvSpPr>
          <p:cNvPr id="3" name="Text 1"/>
          <p:cNvSpPr txBox="1"/>
          <p:nvPr/>
        </p:nvSpPr>
        <p:spPr>
          <a:xfrm>
            <a:off x="457200" y="1234440"/>
            <a:ext cx="8229600" cy="274320"/>
          </a:xfrm>
          <a:prstGeom prst="rect">
            <a:avLst/>
          </a:prstGeom>
          <a:noFill/>
          <a:ln/>
        </p:spPr>
        <p:txBody>
          <a:bodyPr wrap="square" lIns="0" tIns="0" rIns="0" bIns="0" rtlCol="0" anchor="ctr"/>
          <a:lstStyle/>
          <a:p>
            <a:pPr marL="0" indent="0">
              <a:buNone/>
            </a:pPr>
            <a:r>
              <a:rPr lang="en-US" sz="1400" dirty="0">
                <a:solidFill>
                  <a:srgbClr val="5B6B80"/>
                </a:solidFill>
                <a:latin typeface="Calibri" pitchFamily="34" charset="0"/>
                <a:ea typeface="Calibri" pitchFamily="34" charset="-122"/>
                <a:cs typeface="Calibri" pitchFamily="34" charset="-120"/>
              </a:rPr>
              <a:t>Three new columns make incident time, impact and response speed easier to interpret.</a:t>
            </a:r>
            <a:endParaRPr lang="en-US" sz="1400" dirty="0"/>
          </a:p>
        </p:txBody>
      </p:sp>
      <p:sp>
        <p:nvSpPr>
          <p:cNvPr id="4" name="Shape 2"/>
          <p:cNvSpPr/>
          <p:nvPr/>
        </p:nvSpPr>
        <p:spPr>
          <a:xfrm>
            <a:off x="457200" y="1783080"/>
            <a:ext cx="6400800" cy="1280160"/>
          </a:xfrm>
          <a:prstGeom prst="roundRect">
            <a:avLst>
              <a:gd name="adj" fmla="val 4286"/>
            </a:avLst>
          </a:prstGeom>
          <a:solidFill>
            <a:srgbClr val="EAF2FC"/>
          </a:solidFill>
          <a:ln w="12700">
            <a:solidFill>
              <a:srgbClr val="C5D9F2"/>
            </a:solidFill>
            <a:prstDash val="solid"/>
          </a:ln>
        </p:spPr>
      </p:sp>
      <p:sp>
        <p:nvSpPr>
          <p:cNvPr id="5" name="Shape 3"/>
          <p:cNvSpPr/>
          <p:nvPr/>
        </p:nvSpPr>
        <p:spPr>
          <a:xfrm>
            <a:off x="685800" y="2212848"/>
            <a:ext cx="420624" cy="420624"/>
          </a:xfrm>
          <a:prstGeom prst="ellipse">
            <a:avLst/>
          </a:prstGeom>
          <a:solidFill>
            <a:srgbClr val="1F5FBF"/>
          </a:solidFill>
          <a:ln w="12700">
            <a:solidFill>
              <a:srgbClr val="1F5FBF"/>
            </a:solidFill>
            <a:prstDash val="solid"/>
          </a:ln>
        </p:spPr>
      </p:sp>
      <p:sp>
        <p:nvSpPr>
          <p:cNvPr id="6" name="Text 4"/>
          <p:cNvSpPr txBox="1"/>
          <p:nvPr/>
        </p:nvSpPr>
        <p:spPr>
          <a:xfrm>
            <a:off x="685800" y="22128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txBox="1"/>
          <p:nvPr/>
        </p:nvSpPr>
        <p:spPr>
          <a:xfrm>
            <a:off x="1371600" y="1783080"/>
            <a:ext cx="5349240" cy="1280160"/>
          </a:xfrm>
          <a:prstGeom prst="rect">
            <a:avLst/>
          </a:prstGeom>
          <a:noFill/>
          <a:ln/>
        </p:spPr>
        <p:txBody>
          <a:bodyPr wrap="square" lIns="0" tIns="0" rIns="0" bIns="0" rtlCol="0" anchor="ctr"/>
          <a:lstStyle/>
          <a:p>
            <a:pPr marL="0" indent="0">
              <a:buNone/>
            </a:pPr>
            <a:r>
              <a:rPr lang="en-US" sz="1600" b="1" dirty="0">
                <a:solidFill>
                  <a:srgbClr val="12315E"/>
                </a:solidFill>
                <a:latin typeface="Calibri" pitchFamily="34" charset="0"/>
                <a:ea typeface="Calibri" pitchFamily="34" charset="-122"/>
                <a:cs typeface="Calibri" pitchFamily="34" charset="-120"/>
              </a:rPr>
              <a:t>Incident_Time_Period</a:t>
            </a:r>
            <a:endParaRPr lang="en-US" sz="1600" dirty="0"/>
          </a:p>
          <a:p>
            <a:pPr marL="0" indent="0">
              <a:buNone/>
            </a:pPr>
            <a:r>
              <a:rPr lang="en-US" sz="1300" dirty="0">
                <a:solidFill>
                  <a:srgbClr val="1B2B45"/>
                </a:solidFill>
                <a:latin typeface="Calibri" pitchFamily="34" charset="0"/>
                <a:ea typeface="Calibri" pitchFamily="34" charset="-122"/>
                <a:cs typeface="Calibri" pitchFamily="34" charset="-120"/>
              </a:rPr>
              <a:t>Groups timestamps into time-of-day periods, e.g. Morning, Afternoon, Evening or Night.</a:t>
            </a:r>
            <a:endParaRPr lang="en-US" sz="1600" dirty="0"/>
          </a:p>
        </p:txBody>
      </p:sp>
      <p:sp>
        <p:nvSpPr>
          <p:cNvPr id="8" name="Shape 6"/>
          <p:cNvSpPr/>
          <p:nvPr/>
        </p:nvSpPr>
        <p:spPr>
          <a:xfrm>
            <a:off x="457200" y="3200400"/>
            <a:ext cx="6400800" cy="1280160"/>
          </a:xfrm>
          <a:prstGeom prst="roundRect">
            <a:avLst>
              <a:gd name="adj" fmla="val 4286"/>
            </a:avLst>
          </a:prstGeom>
          <a:solidFill>
            <a:srgbClr val="FFFFFF"/>
          </a:solidFill>
          <a:ln w="12700">
            <a:solidFill>
              <a:srgbClr val="C5D9F2"/>
            </a:solidFill>
            <a:prstDash val="solid"/>
          </a:ln>
        </p:spPr>
      </p:sp>
      <p:sp>
        <p:nvSpPr>
          <p:cNvPr id="9" name="Shape 7"/>
          <p:cNvSpPr/>
          <p:nvPr/>
        </p:nvSpPr>
        <p:spPr>
          <a:xfrm>
            <a:off x="685800" y="3630168"/>
            <a:ext cx="420624" cy="420624"/>
          </a:xfrm>
          <a:prstGeom prst="ellipse">
            <a:avLst/>
          </a:prstGeom>
          <a:solidFill>
            <a:srgbClr val="1F5FBF"/>
          </a:solidFill>
          <a:ln w="12700">
            <a:solidFill>
              <a:srgbClr val="1F5FBF"/>
            </a:solidFill>
            <a:prstDash val="solid"/>
          </a:ln>
        </p:spPr>
      </p:sp>
      <p:sp>
        <p:nvSpPr>
          <p:cNvPr id="10" name="Text 8"/>
          <p:cNvSpPr txBox="1"/>
          <p:nvPr/>
        </p:nvSpPr>
        <p:spPr>
          <a:xfrm>
            <a:off x="685800" y="363016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1" name="Text 9"/>
          <p:cNvSpPr txBox="1"/>
          <p:nvPr/>
        </p:nvSpPr>
        <p:spPr>
          <a:xfrm>
            <a:off x="1371600" y="3200400"/>
            <a:ext cx="5349240" cy="1280160"/>
          </a:xfrm>
          <a:prstGeom prst="rect">
            <a:avLst/>
          </a:prstGeom>
          <a:noFill/>
          <a:ln/>
        </p:spPr>
        <p:txBody>
          <a:bodyPr wrap="square" lIns="0" tIns="0" rIns="0" bIns="0" rtlCol="0" anchor="ctr"/>
          <a:lstStyle/>
          <a:p>
            <a:pPr marL="0" indent="0">
              <a:buNone/>
            </a:pPr>
            <a:r>
              <a:rPr lang="en-US" sz="1600" b="1" dirty="0">
                <a:solidFill>
                  <a:srgbClr val="12315E"/>
                </a:solidFill>
                <a:latin typeface="Calibri" pitchFamily="34" charset="0"/>
                <a:ea typeface="Calibri" pitchFamily="34" charset="-122"/>
                <a:cs typeface="Calibri" pitchFamily="34" charset="-120"/>
              </a:rPr>
              <a:t>High_Impact_Incident</a:t>
            </a:r>
            <a:endParaRPr lang="en-US" sz="1600" dirty="0"/>
          </a:p>
          <a:p>
            <a:pPr marL="0" indent="0">
              <a:buNone/>
            </a:pPr>
            <a:r>
              <a:rPr lang="en-US" sz="1300" dirty="0">
                <a:solidFill>
                  <a:srgbClr val="1B2B45"/>
                </a:solidFill>
                <a:latin typeface="Calibri" pitchFamily="34" charset="0"/>
                <a:ea typeface="Calibri" pitchFamily="34" charset="-122"/>
                <a:cs typeface="Calibri" pitchFamily="34" charset="-120"/>
              </a:rPr>
              <a:t>Flags whether an incident is classified as high impact (Yes / No).</a:t>
            </a:r>
            <a:endParaRPr lang="en-US" sz="1600" dirty="0"/>
          </a:p>
        </p:txBody>
      </p:sp>
      <p:sp>
        <p:nvSpPr>
          <p:cNvPr id="12" name="Shape 10"/>
          <p:cNvSpPr/>
          <p:nvPr/>
        </p:nvSpPr>
        <p:spPr>
          <a:xfrm>
            <a:off x="457200" y="4617720"/>
            <a:ext cx="6400800" cy="1280160"/>
          </a:xfrm>
          <a:prstGeom prst="roundRect">
            <a:avLst>
              <a:gd name="adj" fmla="val 4286"/>
            </a:avLst>
          </a:prstGeom>
          <a:solidFill>
            <a:srgbClr val="EAF2FC"/>
          </a:solidFill>
          <a:ln w="12700">
            <a:solidFill>
              <a:srgbClr val="C5D9F2"/>
            </a:solidFill>
            <a:prstDash val="solid"/>
          </a:ln>
        </p:spPr>
      </p:sp>
      <p:sp>
        <p:nvSpPr>
          <p:cNvPr id="13" name="Shape 11"/>
          <p:cNvSpPr/>
          <p:nvPr/>
        </p:nvSpPr>
        <p:spPr>
          <a:xfrm>
            <a:off x="685800" y="5047488"/>
            <a:ext cx="420624" cy="420624"/>
          </a:xfrm>
          <a:prstGeom prst="ellipse">
            <a:avLst/>
          </a:prstGeom>
          <a:solidFill>
            <a:srgbClr val="1F5FBF"/>
          </a:solidFill>
          <a:ln w="12700">
            <a:solidFill>
              <a:srgbClr val="1F5FBF"/>
            </a:solidFill>
            <a:prstDash val="solid"/>
          </a:ln>
        </p:spPr>
      </p:sp>
      <p:sp>
        <p:nvSpPr>
          <p:cNvPr id="14" name="Text 12"/>
          <p:cNvSpPr txBox="1"/>
          <p:nvPr/>
        </p:nvSpPr>
        <p:spPr>
          <a:xfrm>
            <a:off x="685800" y="504748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5" name="Text 13"/>
          <p:cNvSpPr txBox="1"/>
          <p:nvPr/>
        </p:nvSpPr>
        <p:spPr>
          <a:xfrm>
            <a:off x="1371600" y="4617720"/>
            <a:ext cx="5349240" cy="1280160"/>
          </a:xfrm>
          <a:prstGeom prst="rect">
            <a:avLst/>
          </a:prstGeom>
          <a:noFill/>
          <a:ln/>
        </p:spPr>
        <p:txBody>
          <a:bodyPr wrap="square" lIns="0" tIns="0" rIns="0" bIns="0" rtlCol="0" anchor="ctr"/>
          <a:lstStyle/>
          <a:p>
            <a:pPr marL="0" indent="0">
              <a:buNone/>
            </a:pPr>
            <a:r>
              <a:rPr lang="en-US" sz="1600" b="1" dirty="0">
                <a:solidFill>
                  <a:srgbClr val="12315E"/>
                </a:solidFill>
                <a:latin typeface="Calibri" pitchFamily="34" charset="0"/>
                <a:ea typeface="Calibri" pitchFamily="34" charset="-122"/>
                <a:cs typeface="Calibri" pitchFamily="34" charset="-120"/>
              </a:rPr>
              <a:t>Response_Time_Category</a:t>
            </a:r>
            <a:endParaRPr lang="en-US" sz="1600" dirty="0"/>
          </a:p>
          <a:p>
            <a:pPr marL="0" indent="0">
              <a:buNone/>
            </a:pPr>
            <a:r>
              <a:rPr lang="en-US" sz="1300" dirty="0">
                <a:solidFill>
                  <a:srgbClr val="1B2B45"/>
                </a:solidFill>
                <a:latin typeface="Calibri" pitchFamily="34" charset="0"/>
                <a:ea typeface="Calibri" pitchFamily="34" charset="-122"/>
                <a:cs typeface="Calibri" pitchFamily="34" charset="-120"/>
              </a:rPr>
              <a:t>Groups response time into categories such as Fast, Moderate or Slow.</a:t>
            </a:r>
            <a:endParaRPr lang="en-US" sz="1600" dirty="0"/>
          </a:p>
        </p:txBody>
      </p:sp>
      <p:sp>
        <p:nvSpPr>
          <p:cNvPr id="16" name="Shape 14"/>
          <p:cNvSpPr/>
          <p:nvPr/>
        </p:nvSpPr>
        <p:spPr>
          <a:xfrm>
            <a:off x="7223760" y="1783080"/>
            <a:ext cx="4526280" cy="384048"/>
          </a:xfrm>
          <a:prstGeom prst="rect">
            <a:avLst/>
          </a:prstGeom>
          <a:solidFill>
            <a:srgbClr val="EAF2FC"/>
          </a:solidFill>
          <a:ln w="12700">
            <a:solidFill>
              <a:srgbClr val="EAF2FC"/>
            </a:solidFill>
            <a:prstDash val="solid"/>
          </a:ln>
        </p:spPr>
      </p:sp>
      <p:sp>
        <p:nvSpPr>
          <p:cNvPr id="17" name="Text 15"/>
          <p:cNvSpPr txBox="1"/>
          <p:nvPr/>
        </p:nvSpPr>
        <p:spPr>
          <a:xfrm>
            <a:off x="7360920" y="1783080"/>
            <a:ext cx="4251960" cy="384048"/>
          </a:xfrm>
          <a:prstGeom prst="rect">
            <a:avLst/>
          </a:prstGeom>
          <a:noFill/>
          <a:ln/>
        </p:spPr>
        <p:txBody>
          <a:bodyPr wrap="square" lIns="0" tIns="0" rIns="0" bIns="0" rtlCol="0" anchor="ctr"/>
          <a:lstStyle/>
          <a:p>
            <a:pPr marL="0" indent="0">
              <a:buNone/>
            </a:pPr>
            <a:r>
              <a:rPr lang="en-US" sz="1400" b="1" dirty="0">
                <a:solidFill>
                  <a:srgbClr val="1F5FBF"/>
                </a:solidFill>
                <a:latin typeface="Calibri" pitchFamily="34" charset="0"/>
                <a:ea typeface="Calibri" pitchFamily="34" charset="-122"/>
                <a:cs typeface="Calibri" pitchFamily="34" charset="-120"/>
              </a:rPr>
              <a:t>Example of derived columns (Sample records)</a:t>
            </a:r>
            <a:endParaRPr lang="en-US" sz="1400" dirty="0"/>
          </a:p>
        </p:txBody>
      </p:sp>
      <p:sp>
        <p:nvSpPr>
          <p:cNvPr id="18" name="Shape 16"/>
          <p:cNvSpPr/>
          <p:nvPr/>
        </p:nvSpPr>
        <p:spPr>
          <a:xfrm>
            <a:off x="7223760" y="2194560"/>
            <a:ext cx="4526280" cy="3840480"/>
          </a:xfrm>
          <a:prstGeom prst="roundRect">
            <a:avLst>
              <a:gd name="adj" fmla="val 1429"/>
            </a:avLst>
          </a:prstGeom>
          <a:solidFill>
            <a:srgbClr val="EAF2FC"/>
          </a:solidFill>
          <a:ln w="12700">
            <a:solidFill>
              <a:srgbClr val="C5D9F2"/>
            </a:solidFill>
            <a:prstDash val="solid"/>
          </a:ln>
        </p:spPr>
      </p:sp>
      <p:pic>
        <p:nvPicPr>
          <p:cNvPr id="19" name="Image 0" descr="derived.png"/>
          <p:cNvPicPr>
            <a:picLocks noChangeAspect="1"/>
          </p:cNvPicPr>
          <p:nvPr/>
        </p:nvPicPr>
        <p:blipFill>
          <a:blip r:embed="rId3"/>
          <a:srcRect/>
          <a:stretch/>
        </p:blipFill>
        <p:spPr>
          <a:xfrm>
            <a:off x="8023860" y="2286000"/>
            <a:ext cx="2926080" cy="3630168"/>
          </a:xfrm>
          <a:prstGeom prst="rect">
            <a:avLst/>
          </a:prstGeom>
        </p:spPr>
      </p:pic>
      <p:sp>
        <p:nvSpPr>
          <p:cNvPr id="20" name="Text 17"/>
          <p:cNvSpPr txBox="1"/>
          <p:nvPr/>
        </p:nvSpPr>
        <p:spPr>
          <a:xfrm>
            <a:off x="7223760" y="6126480"/>
            <a:ext cx="4526280" cy="228600"/>
          </a:xfrm>
          <a:prstGeom prst="rect">
            <a:avLst/>
          </a:prstGeom>
          <a:noFill/>
          <a:ln/>
        </p:spPr>
        <p:txBody>
          <a:bodyPr wrap="square" lIns="0" tIns="0" rIns="0" bIns="0" rtlCol="0" anchor="ctr"/>
          <a:lstStyle/>
          <a:p>
            <a:pPr marL="0" indent="0">
              <a:buNone/>
            </a:pPr>
            <a:r>
              <a:rPr lang="en-US" sz="1000" dirty="0">
                <a:solidFill>
                  <a:srgbClr val="5B6B80"/>
                </a:solidFill>
                <a:latin typeface="Calibri" pitchFamily="34" charset="0"/>
                <a:ea typeface="Calibri" pitchFamily="34" charset="-122"/>
                <a:cs typeface="Calibri" pitchFamily="34" charset="-120"/>
              </a:rPr>
              <a:t>Note: These are sample records to illustrate the derived columns.</a:t>
            </a:r>
            <a:endParaRPr lang="en-US" sz="1000" dirty="0"/>
          </a:p>
        </p:txBody>
      </p:sp>
      <p:sp>
        <p:nvSpPr>
          <p:cNvPr id="21" name="Text 18"/>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PARI PATEL  •  07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438912"/>
            <a:ext cx="4572000" cy="201168"/>
          </a:xfrm>
          <a:prstGeom prst="rect">
            <a:avLst/>
          </a:prstGeom>
          <a:noFill/>
          <a:ln/>
        </p:spPr>
        <p:txBody>
          <a:bodyPr wrap="square" lIns="0" tIns="0" rIns="0" bIns="0" rtlCol="0" anchor="ctr"/>
          <a:lstStyle/>
          <a:p>
            <a:pPr marL="0" indent="0">
              <a:buNone/>
            </a:pPr>
            <a:r>
              <a:rPr lang="en-US" sz="900" b="1" dirty="0">
                <a:solidFill>
                  <a:srgbClr val="1F5FBF"/>
                </a:solidFill>
                <a:latin typeface="Calibri" pitchFamily="34" charset="0"/>
                <a:ea typeface="Calibri" pitchFamily="34" charset="-122"/>
                <a:cs typeface="Calibri" pitchFamily="34" charset="-120"/>
              </a:rPr>
              <a:t>08 / LESSONS LEARNED</a:t>
            </a:r>
            <a:endParaRPr lang="en-US" sz="900" dirty="0"/>
          </a:p>
        </p:txBody>
      </p:sp>
      <p:sp>
        <p:nvSpPr>
          <p:cNvPr id="3" name="Text 1"/>
          <p:cNvSpPr txBox="1"/>
          <p:nvPr/>
        </p:nvSpPr>
        <p:spPr>
          <a:xfrm>
            <a:off x="457200" y="640080"/>
            <a:ext cx="9509760" cy="640080"/>
          </a:xfrm>
          <a:prstGeom prst="rect">
            <a:avLst/>
          </a:prstGeom>
          <a:noFill/>
          <a:ln/>
        </p:spPr>
        <p:txBody>
          <a:bodyPr wrap="square" lIns="0" tIns="0" rIns="0" bIns="0" rtlCol="0" anchor="ctr"/>
          <a:lstStyle/>
          <a:p>
            <a:pPr marL="0" indent="0">
              <a:buNone/>
            </a:pPr>
            <a:r>
              <a:rPr lang="en-US" sz="3200" b="1" dirty="0">
                <a:solidFill>
                  <a:srgbClr val="12315E"/>
                </a:solidFill>
                <a:latin typeface="Calibri" pitchFamily="34" charset="0"/>
                <a:ea typeface="Calibri" pitchFamily="34" charset="-122"/>
                <a:cs typeface="Calibri" pitchFamily="34" charset="-120"/>
              </a:rPr>
              <a:t>Challenges &amp; Practical Resolutions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3401568"/>
        </p:xfrm>
        <a:graphic>
          <a:graphicData uri="http://schemas.openxmlformats.org/drawingml/2006/table">
            <a:tbl>
              <a:tblPr/>
              <a:tblGrid>
                <a:gridCol w="3291840">
                  <a:extLst>
                    <a:ext uri="{9D8B030D-6E8A-4147-A177-3AD203B41FA5}">
                      <a16:colId xmlns:a16="http://schemas.microsoft.com/office/drawing/2014/main" val="20000"/>
                    </a:ext>
                  </a:extLst>
                </a:gridCol>
                <a:gridCol w="7982712">
                  <a:extLst>
                    <a:ext uri="{9D8B030D-6E8A-4147-A177-3AD203B41FA5}">
                      <a16:colId xmlns:a16="http://schemas.microsoft.com/office/drawing/2014/main" val="20001"/>
                    </a:ext>
                  </a:extLst>
                </a:gridCol>
              </a:tblGrid>
              <a:tr h="56692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CHALLENGE</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1F5FB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RESOLUTION</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1F5FBF"/>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12315E"/>
                          </a:solidFill>
                          <a:latin typeface="Calibri" pitchFamily="34" charset="0"/>
                          <a:ea typeface="Calibri" pitchFamily="34" charset="-122"/>
                          <a:cs typeface="Calibri" pitchFamily="34" charset="-120"/>
                        </a:rPr>
                        <a:t>Duplicate records</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1400" dirty="0">
                          <a:solidFill>
                            <a:srgbClr val="1B2B45"/>
                          </a:solidFill>
                          <a:latin typeface="Calibri" pitchFamily="34" charset="0"/>
                          <a:ea typeface="Calibri" pitchFamily="34" charset="-122"/>
                          <a:cs typeface="Calibri" pitchFamily="34" charset="-120"/>
                        </a:rPr>
                        <a:t>Removed 500 exact duplicate rows across all columns.</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EAF2FC"/>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12315E"/>
                          </a:solidFill>
                          <a:latin typeface="Calibri" pitchFamily="34" charset="0"/>
                          <a:ea typeface="Calibri" pitchFamily="34" charset="-122"/>
                          <a:cs typeface="Calibri" pitchFamily="34" charset="-120"/>
                        </a:rPr>
                        <a:t>Missing values</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1400" dirty="0">
                          <a:solidFill>
                            <a:srgbClr val="1B2B45"/>
                          </a:solidFill>
                          <a:latin typeface="Calibri" pitchFamily="34" charset="0"/>
                          <a:ea typeface="Calibri" pitchFamily="34" charset="-122"/>
                          <a:cs typeface="Calibri" pitchFamily="34" charset="-120"/>
                        </a:rPr>
                        <a:t>Reviewed missing values without replacing unknown values with zero.</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12315E"/>
                          </a:solidFill>
                          <a:latin typeface="Calibri" pitchFamily="34" charset="0"/>
                          <a:ea typeface="Calibri" pitchFamily="34" charset="-122"/>
                          <a:cs typeface="Calibri" pitchFamily="34" charset="-120"/>
                        </a:rPr>
                        <a:t>Inconsistent categories</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1400" dirty="0">
                          <a:solidFill>
                            <a:srgbClr val="1B2B45"/>
                          </a:solidFill>
                          <a:latin typeface="Calibri" pitchFamily="34" charset="0"/>
                          <a:ea typeface="Calibri" pitchFamily="34" charset="-122"/>
                          <a:cs typeface="Calibri" pitchFamily="34" charset="-120"/>
                        </a:rPr>
                        <a:t>Reviewed categorical consistency and cleaned selected text fields.</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EAF2FC"/>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12315E"/>
                          </a:solidFill>
                          <a:latin typeface="Calibri" pitchFamily="34" charset="0"/>
                          <a:ea typeface="Calibri" pitchFamily="34" charset="-122"/>
                          <a:cs typeface="Calibri" pitchFamily="34" charset="-120"/>
                        </a:rPr>
                        <a:t>Types / invalid values</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FFFFFF"/>
                    </a:solidFill>
                  </a:tcPr>
                </a:tc>
                <a:tc>
                  <a:txBody>
                    <a:bodyPr/>
                    <a:lstStyle/>
                    <a:p>
                      <a:pPr marL="0" indent="0">
                        <a:buNone/>
                      </a:pPr>
                      <a:r>
                        <a:rPr lang="en-US" sz="1400" dirty="0">
                          <a:solidFill>
                            <a:srgbClr val="1B2B45"/>
                          </a:solidFill>
                          <a:latin typeface="Calibri" pitchFamily="34" charset="0"/>
                          <a:ea typeface="Calibri" pitchFamily="34" charset="-122"/>
                          <a:cs typeface="Calibri" pitchFamily="34" charset="-120"/>
                        </a:rPr>
                        <a:t>Validated suitable data types and checked numerical and categorical values.</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12315E"/>
                          </a:solidFill>
                          <a:latin typeface="Calibri" pitchFamily="34" charset="0"/>
                          <a:ea typeface="Calibri" pitchFamily="34" charset="-122"/>
                          <a:cs typeface="Calibri" pitchFamily="34" charset="-120"/>
                        </a:rPr>
                        <a:t>Interpreting raw fields</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EAF2FC"/>
                    </a:solidFill>
                  </a:tcPr>
                </a:tc>
                <a:tc>
                  <a:txBody>
                    <a:bodyPr/>
                    <a:lstStyle/>
                    <a:p>
                      <a:pPr marL="0" indent="0">
                        <a:buNone/>
                      </a:pPr>
                      <a:r>
                        <a:rPr lang="en-US" sz="1400" dirty="0">
                          <a:solidFill>
                            <a:srgbClr val="1B2B45"/>
                          </a:solidFill>
                          <a:latin typeface="Calibri" pitchFamily="34" charset="0"/>
                          <a:ea typeface="Calibri" pitchFamily="34" charset="-122"/>
                          <a:cs typeface="Calibri" pitchFamily="34" charset="-120"/>
                        </a:rPr>
                        <a:t>Created Incident_Time_Period, High_Impact_Incident and Response_Time_Category.</a:t>
                      </a:r>
                      <a:endParaRPr lang="en-US" sz="1400" dirty="0">
                        <a:latin typeface="Calibri" charset="0"/>
                        <a:ea typeface="Calibri" charset="0"/>
                        <a:cs typeface="Calibri" charset="0"/>
                      </a:endParaRPr>
                    </a:p>
                  </a:txBody>
                  <a:tcPr marL="137160" marR="137160" marT="0" marB="0" anchor="ctr">
                    <a:lnL w="9525" cap="flat" cmpd="sng" algn="ctr">
                      <a:solidFill>
                        <a:srgbClr val="C5D9F2"/>
                      </a:solidFill>
                      <a:prstDash val="solid"/>
                      <a:round/>
                      <a:headEnd type="none" w="med" len="med"/>
                      <a:tailEnd type="none" w="med" len="med"/>
                    </a:lnL>
                    <a:lnR w="9525" cap="flat" cmpd="sng" algn="ctr">
                      <a:solidFill>
                        <a:srgbClr val="C5D9F2"/>
                      </a:solidFill>
                      <a:prstDash val="solid"/>
                      <a:round/>
                      <a:headEnd type="none" w="med" len="med"/>
                      <a:tailEnd type="none" w="med" len="med"/>
                    </a:lnR>
                    <a:lnT w="9525" cap="flat" cmpd="sng" algn="ctr">
                      <a:solidFill>
                        <a:srgbClr val="C5D9F2"/>
                      </a:solidFill>
                      <a:prstDash val="solid"/>
                      <a:round/>
                      <a:headEnd type="none" w="med" len="med"/>
                      <a:tailEnd type="none" w="med" len="med"/>
                    </a:lnT>
                    <a:lnB w="9525" cap="flat" cmpd="sng" algn="ctr">
                      <a:solidFill>
                        <a:srgbClr val="C5D9F2"/>
                      </a:solidFill>
                      <a:prstDash val="solid"/>
                      <a:round/>
                      <a:headEnd type="none" w="med" len="med"/>
                      <a:tailEnd type="none" w="med" len="med"/>
                    </a:lnB>
                    <a:solidFill>
                      <a:srgbClr val="EAF2FC"/>
                    </a:solidFill>
                  </a:tcPr>
                </a:tc>
                <a:extLst>
                  <a:ext uri="{0D108BD9-81ED-4DB2-BD59-A6C34878D82A}">
                    <a16:rowId xmlns:a16="http://schemas.microsoft.com/office/drawing/2014/main" val="10005"/>
                  </a:ext>
                </a:extLst>
              </a:tr>
            </a:tbl>
          </a:graphicData>
        </a:graphic>
      </p:graphicFrame>
      <p:sp>
        <p:nvSpPr>
          <p:cNvPr id="5" name="Shape 2"/>
          <p:cNvSpPr/>
          <p:nvPr/>
        </p:nvSpPr>
        <p:spPr>
          <a:xfrm>
            <a:off x="457200" y="5212080"/>
            <a:ext cx="11274552" cy="640080"/>
          </a:xfrm>
          <a:prstGeom prst="roundRect">
            <a:avLst>
              <a:gd name="adj" fmla="val 8571"/>
            </a:avLst>
          </a:prstGeom>
          <a:solidFill>
            <a:srgbClr val="EAF2FC"/>
          </a:solidFill>
          <a:ln w="12700">
            <a:solidFill>
              <a:srgbClr val="C5D9F2"/>
            </a:solidFill>
            <a:prstDash val="solid"/>
          </a:ln>
        </p:spPr>
      </p:sp>
      <p:sp>
        <p:nvSpPr>
          <p:cNvPr id="6" name="Text 3"/>
          <p:cNvSpPr txBox="1"/>
          <p:nvPr/>
        </p:nvSpPr>
        <p:spPr>
          <a:xfrm>
            <a:off x="640080" y="5212080"/>
            <a:ext cx="10881360" cy="640080"/>
          </a:xfrm>
          <a:prstGeom prst="rect">
            <a:avLst/>
          </a:prstGeom>
          <a:noFill/>
          <a:ln/>
        </p:spPr>
        <p:txBody>
          <a:bodyPr wrap="square" lIns="0" tIns="0" rIns="0" bIns="0" rtlCol="0" anchor="ctr"/>
          <a:lstStyle/>
          <a:p>
            <a:pPr marL="0" indent="0">
              <a:buNone/>
            </a:pPr>
            <a:r>
              <a:rPr lang="en-US" sz="1400" b="1" dirty="0">
                <a:solidFill>
                  <a:srgbClr val="12315E"/>
                </a:solidFill>
                <a:latin typeface="Calibri" pitchFamily="34" charset="0"/>
                <a:ea typeface="Calibri" pitchFamily="34" charset="-122"/>
                <a:cs typeface="Calibri" pitchFamily="34" charset="-120"/>
              </a:rPr>
              <a:t>Plausible numerical outliers were retained; validation focused on consistency and readiness.</a:t>
            </a:r>
            <a:endParaRPr lang="en-US" sz="1400" dirty="0"/>
          </a:p>
        </p:txBody>
      </p:sp>
      <p:sp>
        <p:nvSpPr>
          <p:cNvPr id="7" name="Text 4"/>
          <p:cNvSpPr txBox="1"/>
          <p:nvPr/>
        </p:nvSpPr>
        <p:spPr>
          <a:xfrm>
            <a:off x="457200" y="6446520"/>
            <a:ext cx="6400800" cy="256032"/>
          </a:xfrm>
          <a:prstGeom prst="rect">
            <a:avLst/>
          </a:prstGeom>
          <a:noFill/>
          <a:ln/>
        </p:spPr>
        <p:txBody>
          <a:bodyPr wrap="square" lIns="0" tIns="0" rIns="0" bIns="0" rtlCol="0" anchor="ctr"/>
          <a:lstStyle/>
          <a:p>
            <a:pPr marL="0" indent="0">
              <a:buNone/>
            </a:pPr>
            <a:r>
              <a:rPr lang="en-US" sz="900" b="1" dirty="0">
                <a:solidFill>
                  <a:srgbClr val="5B6B80"/>
                </a:solidFill>
                <a:latin typeface="Calibri" pitchFamily="34" charset="0"/>
                <a:ea typeface="Calibri" pitchFamily="34" charset="-122"/>
                <a:cs typeface="Calibri" pitchFamily="34" charset="-120"/>
              </a:rPr>
              <a:t>INFOSYS SPRINGBOARD 7.0  /  MILESTONE 1</a:t>
            </a:r>
            <a:endParaRPr lang="en-US" sz="900" dirty="0"/>
          </a:p>
        </p:txBody>
      </p:sp>
      <p:sp>
        <p:nvSpPr>
          <p:cNvPr id="8" name="Text 5"/>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PARI PATEL  •  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566928"/>
            <a:ext cx="9509760" cy="640080"/>
          </a:xfrm>
          <a:prstGeom prst="rect">
            <a:avLst/>
          </a:prstGeom>
          <a:noFill/>
          <a:ln/>
        </p:spPr>
        <p:txBody>
          <a:bodyPr wrap="square" lIns="0" tIns="0" rIns="0" bIns="0" rtlCol="0" anchor="ctr"/>
          <a:lstStyle/>
          <a:p>
            <a:pPr marL="0" indent="0">
              <a:buNone/>
            </a:pPr>
            <a:r>
              <a:rPr lang="en-US" sz="3200" b="1" dirty="0">
                <a:solidFill>
                  <a:srgbClr val="12315E"/>
                </a:solidFill>
                <a:latin typeface="Calibri" pitchFamily="34" charset="0"/>
                <a:ea typeface="Calibri" pitchFamily="34" charset="-122"/>
                <a:cs typeface="Calibri" pitchFamily="34" charset="-120"/>
              </a:rPr>
              <a:t>Conclusion</a:t>
            </a:r>
            <a:endParaRPr lang="en-US" sz="3200" dirty="0"/>
          </a:p>
        </p:txBody>
      </p:sp>
      <p:sp>
        <p:nvSpPr>
          <p:cNvPr id="3" name="Shape 1"/>
          <p:cNvSpPr/>
          <p:nvPr/>
        </p:nvSpPr>
        <p:spPr>
          <a:xfrm>
            <a:off x="457200" y="1371600"/>
            <a:ext cx="11274552" cy="2500604"/>
          </a:xfrm>
          <a:prstGeom prst="roundRect">
            <a:avLst>
              <a:gd name="adj" fmla="val 1132"/>
            </a:avLst>
          </a:prstGeom>
          <a:solidFill>
            <a:srgbClr val="EAF2FC"/>
          </a:solidFill>
          <a:ln w="12700">
            <a:solidFill>
              <a:srgbClr val="C5D9F2"/>
            </a:solidFill>
            <a:prstDash val="solid"/>
          </a:ln>
        </p:spPr>
      </p:sp>
      <p:sp>
        <p:nvSpPr>
          <p:cNvPr id="4" name="Text 2"/>
          <p:cNvSpPr txBox="1"/>
          <p:nvPr/>
        </p:nvSpPr>
        <p:spPr>
          <a:xfrm>
            <a:off x="731520" y="1508760"/>
            <a:ext cx="10744200" cy="2363444"/>
          </a:xfrm>
          <a:prstGeom prst="rect">
            <a:avLst/>
          </a:prstGeom>
          <a:noFill/>
          <a:ln/>
        </p:spPr>
        <p:txBody>
          <a:bodyPr wrap="square" lIns="0" tIns="0" rIns="0" bIns="0" rtlCol="0" anchor="ctr"/>
          <a:lstStyle/>
          <a:p>
            <a:pPr algn="just"/>
            <a:r>
              <a:rPr lang="en-IN" sz="1600" dirty="0"/>
              <a:t>Milestone 1 successfully established the foundation for the Cyber Threat Analytics Platform with Incident Visualization System. The collected datasets were cleaned, validated, standardized, and prepared using Power Query in Power BI. This phase improved data quality, consistency, and reliability for further analysis. The prepared dataset will support interactive visualizations, threat trend analysis, hotspot identification, and data-driven decision-making in the upcoming milestones.</a:t>
            </a:r>
            <a:endParaRPr lang="en-US" sz="1700" dirty="0"/>
          </a:p>
        </p:txBody>
      </p:sp>
      <p:sp>
        <p:nvSpPr>
          <p:cNvPr id="5" name="Text 3"/>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PARI PATEL  •  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B054D-4CFC-C9F7-65CA-E1AEE57BFA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E059457-3D56-A500-DCEE-BE5B259ED18A}"/>
              </a:ext>
            </a:extLst>
          </p:cNvPr>
          <p:cNvSpPr txBox="1"/>
          <p:nvPr/>
        </p:nvSpPr>
        <p:spPr>
          <a:xfrm>
            <a:off x="457200" y="566928"/>
            <a:ext cx="9509760" cy="640080"/>
          </a:xfrm>
          <a:prstGeom prst="rect">
            <a:avLst/>
          </a:prstGeom>
          <a:noFill/>
          <a:ln/>
        </p:spPr>
        <p:txBody>
          <a:bodyPr wrap="square" lIns="0" tIns="0" rIns="0" bIns="0" rtlCol="0" anchor="ctr"/>
          <a:lstStyle/>
          <a:p>
            <a:pPr marL="0" indent="0">
              <a:buNone/>
            </a:pPr>
            <a:r>
              <a:rPr lang="en-US" sz="3200" b="1" dirty="0">
                <a:solidFill>
                  <a:srgbClr val="12315E"/>
                </a:solidFill>
                <a:latin typeface="Calibri" pitchFamily="34" charset="0"/>
                <a:ea typeface="Calibri" pitchFamily="34" charset="-122"/>
                <a:cs typeface="Calibri" pitchFamily="34" charset="-120"/>
              </a:rPr>
              <a:t>Acknowledgements</a:t>
            </a:r>
            <a:endParaRPr lang="en-US" sz="3200" dirty="0"/>
          </a:p>
        </p:txBody>
      </p:sp>
      <p:sp>
        <p:nvSpPr>
          <p:cNvPr id="3" name="Shape 1">
            <a:extLst>
              <a:ext uri="{FF2B5EF4-FFF2-40B4-BE49-F238E27FC236}">
                <a16:creationId xmlns:a16="http://schemas.microsoft.com/office/drawing/2014/main" id="{8BC96823-E570-9DA9-9D7F-B23C3F7A6EE4}"/>
              </a:ext>
            </a:extLst>
          </p:cNvPr>
          <p:cNvSpPr/>
          <p:nvPr/>
        </p:nvSpPr>
        <p:spPr>
          <a:xfrm>
            <a:off x="457200" y="1371600"/>
            <a:ext cx="11274552" cy="4846320"/>
          </a:xfrm>
          <a:prstGeom prst="roundRect">
            <a:avLst>
              <a:gd name="adj" fmla="val 1132"/>
            </a:avLst>
          </a:prstGeom>
          <a:solidFill>
            <a:srgbClr val="EAF2FC"/>
          </a:solidFill>
          <a:ln w="12700">
            <a:solidFill>
              <a:srgbClr val="C5D9F2"/>
            </a:solidFill>
            <a:prstDash val="solid"/>
          </a:ln>
        </p:spPr>
      </p:sp>
      <p:sp>
        <p:nvSpPr>
          <p:cNvPr id="4" name="Text 2">
            <a:extLst>
              <a:ext uri="{FF2B5EF4-FFF2-40B4-BE49-F238E27FC236}">
                <a16:creationId xmlns:a16="http://schemas.microsoft.com/office/drawing/2014/main" id="{2CCF8094-FBDF-009A-7192-AE6249FC651D}"/>
              </a:ext>
            </a:extLst>
          </p:cNvPr>
          <p:cNvSpPr txBox="1"/>
          <p:nvPr/>
        </p:nvSpPr>
        <p:spPr>
          <a:xfrm>
            <a:off x="731520" y="1508760"/>
            <a:ext cx="10744200" cy="4572000"/>
          </a:xfrm>
          <a:prstGeom prst="rect">
            <a:avLst/>
          </a:prstGeom>
          <a:noFill/>
          <a:ln/>
        </p:spPr>
        <p:txBody>
          <a:bodyPr wrap="square" lIns="0" tIns="0" rIns="0" bIns="0" rtlCol="0" anchor="ctr"/>
          <a:lstStyle/>
          <a:p>
            <a:pPr marL="0" indent="0" algn="just">
              <a:lnSpc>
                <a:spcPct val="110000"/>
              </a:lnSpc>
              <a:buNone/>
            </a:pPr>
            <a:r>
              <a:rPr lang="en-US" sz="1700" dirty="0">
                <a:solidFill>
                  <a:srgbClr val="1B2B45"/>
                </a:solidFill>
                <a:latin typeface="Calibri" pitchFamily="34" charset="0"/>
                <a:ea typeface="Calibri" pitchFamily="34" charset="-122"/>
                <a:cs typeface="Calibri" pitchFamily="34" charset="-120"/>
              </a:rPr>
              <a:t>We would like to express our heartfelt gratitude to the </a:t>
            </a:r>
            <a:r>
              <a:rPr lang="en-US" sz="1700" b="1" dirty="0">
                <a:solidFill>
                  <a:srgbClr val="1B2B45"/>
                </a:solidFill>
                <a:latin typeface="Calibri" pitchFamily="34" charset="0"/>
                <a:ea typeface="Calibri" pitchFamily="34" charset="-122"/>
                <a:cs typeface="Calibri" pitchFamily="34" charset="-120"/>
              </a:rPr>
              <a:t>Infosys Springboard Team</a:t>
            </a:r>
            <a:r>
              <a:rPr lang="en-US" sz="1700" dirty="0">
                <a:solidFill>
                  <a:srgbClr val="1B2B45"/>
                </a:solidFill>
                <a:latin typeface="Calibri" pitchFamily="34" charset="0"/>
                <a:ea typeface="Calibri" pitchFamily="34" charset="-122"/>
                <a:cs typeface="Calibri" pitchFamily="34" charset="-120"/>
              </a:rPr>
              <a:t> for organizing this valuable internship opportunity and providing a structured platform for learning and professional development. We are sincerely thankful to our </a:t>
            </a:r>
            <a:r>
              <a:rPr lang="en-US" sz="1700" b="1" dirty="0">
                <a:solidFill>
                  <a:srgbClr val="1B2B45"/>
                </a:solidFill>
                <a:latin typeface="Calibri" pitchFamily="34" charset="0"/>
                <a:ea typeface="Calibri" pitchFamily="34" charset="-122"/>
                <a:cs typeface="Calibri" pitchFamily="34" charset="-120"/>
              </a:rPr>
              <a:t>mentor</a:t>
            </a:r>
            <a:r>
              <a:rPr lang="en-US" sz="1700" dirty="0">
                <a:solidFill>
                  <a:srgbClr val="1B2B45"/>
                </a:solidFill>
                <a:latin typeface="Calibri" pitchFamily="34" charset="0"/>
                <a:ea typeface="Calibri" pitchFamily="34" charset="-122"/>
                <a:cs typeface="Calibri" pitchFamily="34" charset="-120"/>
              </a:rPr>
              <a:t> for her continuous guidance, constructive feedback, and encouragement throughout the project. Her valuable suggestions helped us improve our analytical approach and execute the project effectively. We extend our appreciation to our </a:t>
            </a:r>
            <a:r>
              <a:rPr lang="en-US" sz="1700" b="1" dirty="0">
                <a:solidFill>
                  <a:srgbClr val="1B2B45"/>
                </a:solidFill>
                <a:latin typeface="Calibri" pitchFamily="34" charset="0"/>
                <a:ea typeface="Calibri" pitchFamily="34" charset="-122"/>
                <a:cs typeface="Calibri" pitchFamily="34" charset="-120"/>
              </a:rPr>
              <a:t>teammates</a:t>
            </a:r>
            <a:r>
              <a:rPr lang="en-US" sz="1700" dirty="0">
                <a:solidFill>
                  <a:srgbClr val="1B2B45"/>
                </a:solidFill>
                <a:latin typeface="Calibri" pitchFamily="34" charset="0"/>
                <a:ea typeface="Calibri" pitchFamily="34" charset="-122"/>
                <a:cs typeface="Calibri" pitchFamily="34" charset="-120"/>
              </a:rPr>
              <a:t> for their collaboration, mutual support, idea sharing, and dedicated teamwork during every phase of the project. We are also grateful for the opportunity to work with a real-world dataset, which enabled us to apply theoretical analytical concepts in a practical environment. Working with </a:t>
            </a:r>
            <a:r>
              <a:rPr lang="en-US" sz="1700" b="1" dirty="0">
                <a:solidFill>
                  <a:srgbClr val="1B2B45"/>
                </a:solidFill>
                <a:latin typeface="Calibri" pitchFamily="34" charset="0"/>
                <a:ea typeface="Calibri" pitchFamily="34" charset="-122"/>
                <a:cs typeface="Calibri" pitchFamily="34" charset="-120"/>
              </a:rPr>
              <a:t>Power BI, data preprocessing, data modeling, and interactive dashboard development</a:t>
            </a:r>
            <a:r>
              <a:rPr lang="en-US" sz="1700" dirty="0">
                <a:solidFill>
                  <a:srgbClr val="1B2B45"/>
                </a:solidFill>
                <a:latin typeface="Calibri" pitchFamily="34" charset="0"/>
                <a:ea typeface="Calibri" pitchFamily="34" charset="-122"/>
                <a:cs typeface="Calibri" pitchFamily="34" charset="-120"/>
              </a:rPr>
              <a:t> significantly enhanced our technical knowledge and problem-solving abilities. Furthermore, the collaborative environment, regular reviews, and milestone-based execution helped us develop essential professional skills, including communication, accountability, time management, and coordination. This internship has been a valuable learning experience and an important milestone in our professional growth, strengthening our technical expertise and preparing us for future challenges in data analytics.</a:t>
            </a:r>
            <a:endParaRPr lang="en-US" sz="1700" dirty="0"/>
          </a:p>
        </p:txBody>
      </p:sp>
      <p:sp>
        <p:nvSpPr>
          <p:cNvPr id="5" name="Text 3">
            <a:extLst>
              <a:ext uri="{FF2B5EF4-FFF2-40B4-BE49-F238E27FC236}">
                <a16:creationId xmlns:a16="http://schemas.microsoft.com/office/drawing/2014/main" id="{146FBF8D-CE0A-F5E8-0483-CFB5D1367863}"/>
              </a:ext>
            </a:extLst>
          </p:cNvPr>
          <p:cNvSpPr txBox="1"/>
          <p:nvPr/>
        </p:nvSpPr>
        <p:spPr>
          <a:xfrm>
            <a:off x="8503920" y="6446520"/>
            <a:ext cx="3246120" cy="256032"/>
          </a:xfrm>
          <a:prstGeom prst="rect">
            <a:avLst/>
          </a:prstGeom>
          <a:noFill/>
          <a:ln/>
        </p:spPr>
        <p:txBody>
          <a:bodyPr wrap="square" lIns="0" tIns="0" rIns="0" bIns="0" rtlCol="0" anchor="ctr"/>
          <a:lstStyle/>
          <a:p>
            <a:pPr marL="0" indent="0" algn="r">
              <a:buNone/>
            </a:pPr>
            <a:r>
              <a:rPr lang="en-US" sz="900" b="1" dirty="0">
                <a:solidFill>
                  <a:srgbClr val="5B6B80"/>
                </a:solidFill>
                <a:latin typeface="Calibri" pitchFamily="34" charset="0"/>
                <a:ea typeface="Calibri" pitchFamily="34" charset="-122"/>
                <a:cs typeface="Calibri" pitchFamily="34" charset="-120"/>
              </a:rPr>
              <a:t>PARI PATEL  •  10</a:t>
            </a:r>
            <a:endParaRPr lang="en-US" sz="900" dirty="0"/>
          </a:p>
        </p:txBody>
      </p:sp>
    </p:spTree>
    <p:extLst>
      <p:ext uri="{BB962C8B-B14F-4D97-AF65-F5344CB8AC3E}">
        <p14:creationId xmlns:p14="http://schemas.microsoft.com/office/powerpoint/2010/main" val="4191225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40080" y="548640"/>
            <a:ext cx="10908792" cy="5760720"/>
          </a:xfrm>
          <a:prstGeom prst="roundRect">
            <a:avLst>
              <a:gd name="adj" fmla="val 3968"/>
            </a:avLst>
          </a:prstGeom>
          <a:solidFill>
            <a:srgbClr val="1F5FBF"/>
          </a:solidFill>
          <a:ln w="12700">
            <a:solidFill>
              <a:srgbClr val="1F5FBF"/>
            </a:solidFill>
            <a:prstDash val="solid"/>
          </a:ln>
        </p:spPr>
      </p:sp>
      <p:sp>
        <p:nvSpPr>
          <p:cNvPr id="3" name="Shape 1"/>
          <p:cNvSpPr/>
          <p:nvPr/>
        </p:nvSpPr>
        <p:spPr>
          <a:xfrm>
            <a:off x="5166360" y="868680"/>
            <a:ext cx="1856232" cy="1005840"/>
          </a:xfrm>
          <a:prstGeom prst="roundRect">
            <a:avLst>
              <a:gd name="adj" fmla="val 9091"/>
            </a:avLst>
          </a:prstGeom>
          <a:solidFill>
            <a:srgbClr val="FFFFFF"/>
          </a:solidFill>
          <a:ln w="12700">
            <a:solidFill>
              <a:srgbClr val="FFFFFF"/>
            </a:solidFill>
            <a:prstDash val="solid"/>
          </a:ln>
        </p:spPr>
      </p:sp>
      <p:pic>
        <p:nvPicPr>
          <p:cNvPr id="4" name="Image 0" descr="logo.jpeg"/>
          <p:cNvPicPr>
            <a:picLocks noChangeAspect="1"/>
          </p:cNvPicPr>
          <p:nvPr/>
        </p:nvPicPr>
        <p:blipFill>
          <a:blip r:embed="rId3"/>
          <a:stretch>
            <a:fillRect/>
          </a:stretch>
        </p:blipFill>
        <p:spPr>
          <a:xfrm>
            <a:off x="5266944" y="914400"/>
            <a:ext cx="1645920" cy="885139"/>
          </a:xfrm>
          <a:prstGeom prst="rect">
            <a:avLst/>
          </a:prstGeom>
        </p:spPr>
      </p:pic>
      <p:sp>
        <p:nvSpPr>
          <p:cNvPr id="5" name="Text 2"/>
          <p:cNvSpPr txBox="1"/>
          <p:nvPr/>
        </p:nvSpPr>
        <p:spPr>
          <a:xfrm>
            <a:off x="914400" y="2103120"/>
            <a:ext cx="10360152" cy="27432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INFOSYS SPRINGBOARD VIRTUAL INTERNSHIP 7.0</a:t>
            </a:r>
            <a:endParaRPr lang="en-US" sz="1200" dirty="0"/>
          </a:p>
        </p:txBody>
      </p:sp>
      <p:sp>
        <p:nvSpPr>
          <p:cNvPr id="6" name="Text 3"/>
          <p:cNvSpPr txBox="1"/>
          <p:nvPr/>
        </p:nvSpPr>
        <p:spPr>
          <a:xfrm>
            <a:off x="914400" y="2514600"/>
            <a:ext cx="10360152" cy="1005840"/>
          </a:xfrm>
          <a:prstGeom prst="rect">
            <a:avLst/>
          </a:prstGeom>
          <a:noFill/>
          <a:ln/>
        </p:spPr>
        <p:txBody>
          <a:bodyPr wrap="square" lIns="0" tIns="0" rIns="0" bIns="0"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7" name="Text 4"/>
          <p:cNvSpPr txBox="1"/>
          <p:nvPr/>
        </p:nvSpPr>
        <p:spPr>
          <a:xfrm>
            <a:off x="914400" y="3566160"/>
            <a:ext cx="10360152" cy="457200"/>
          </a:xfrm>
          <a:prstGeom prst="rect">
            <a:avLst/>
          </a:prstGeom>
          <a:noFill/>
          <a:ln/>
        </p:spPr>
        <p:txBody>
          <a:bodyPr wrap="square" lIns="0" tIns="0" rIns="0" bIns="0"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Questions &amp; Discussion</a:t>
            </a:r>
            <a:endParaRPr lang="en-US" sz="2200" dirty="0"/>
          </a:p>
        </p:txBody>
      </p:sp>
      <p:sp>
        <p:nvSpPr>
          <p:cNvPr id="8" name="Text 5"/>
          <p:cNvSpPr txBox="1"/>
          <p:nvPr/>
        </p:nvSpPr>
        <p:spPr>
          <a:xfrm>
            <a:off x="914400" y="4389120"/>
            <a:ext cx="10360152" cy="36576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Cyber Threat Analytics Platform with Incident Visualization System</a:t>
            </a:r>
            <a:endParaRPr lang="en-US" sz="1600" dirty="0"/>
          </a:p>
        </p:txBody>
      </p:sp>
      <p:sp>
        <p:nvSpPr>
          <p:cNvPr id="9" name="Text 6"/>
          <p:cNvSpPr txBox="1"/>
          <p:nvPr/>
        </p:nvSpPr>
        <p:spPr>
          <a:xfrm>
            <a:off x="914400" y="4846320"/>
            <a:ext cx="10360152"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Presented by Pari Patel  •  Batch 4</a:t>
            </a:r>
            <a:endParaRPr lang="en-US" sz="1600" dirty="0"/>
          </a:p>
        </p:txBody>
      </p:sp>
      <p:sp>
        <p:nvSpPr>
          <p:cNvPr id="10" name="Text 7"/>
          <p:cNvSpPr txBox="1"/>
          <p:nvPr/>
        </p:nvSpPr>
        <p:spPr>
          <a:xfrm>
            <a:off x="914400" y="5669280"/>
            <a:ext cx="10360152" cy="27432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MILESTONE 1  /  DATA PREPARATION &amp; VALIDATION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1547</Words>
  <Application>Microsoft Office PowerPoint</Application>
  <PresentationFormat>Widescreen</PresentationFormat>
  <Paragraphs>312</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Threat Analytics Platform - Milestone 1</dc:title>
  <dc:subject>PptxGenJS Presentation</dc:subject>
  <dc:creator>PptxGenJS</dc:creator>
  <cp:lastModifiedBy>Pari Patel</cp:lastModifiedBy>
  <cp:revision>1</cp:revision>
  <dcterms:created xsi:type="dcterms:W3CDTF">2026-10-27T14:11:42Z</dcterms:created>
  <dcterms:modified xsi:type="dcterms:W3CDTF">2026-10-27T14:59:53Z</dcterms:modified>
</cp:coreProperties>
</file>